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5" r:id="rId3"/>
    <p:sldId id="257" r:id="rId4"/>
    <p:sldId id="259" r:id="rId5"/>
    <p:sldId id="258" r:id="rId6"/>
    <p:sldId id="264" r:id="rId7"/>
    <p:sldId id="265" r:id="rId8"/>
    <p:sldId id="283" r:id="rId9"/>
    <p:sldId id="266" r:id="rId10"/>
    <p:sldId id="267" r:id="rId11"/>
    <p:sldId id="268" r:id="rId12"/>
    <p:sldId id="287" r:id="rId13"/>
    <p:sldId id="288" r:id="rId14"/>
    <p:sldId id="269" r:id="rId15"/>
    <p:sldId id="289" r:id="rId16"/>
    <p:sldId id="270" r:id="rId17"/>
    <p:sldId id="271" r:id="rId18"/>
    <p:sldId id="272" r:id="rId19"/>
    <p:sldId id="293" r:id="rId20"/>
    <p:sldId id="294" r:id="rId21"/>
    <p:sldId id="295" r:id="rId22"/>
    <p:sldId id="284" r:id="rId23"/>
  </p:sldIdLst>
  <p:sldSz cx="12193588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iieH4EVWVR1QM5LwxPaqGzKsbs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0E154D-DFE0-4779-8876-5B11C7B50002}">
  <a:tblStyle styleId="{CC0E154D-DFE0-4779-8876-5B11C7B5000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E8F1F5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8F1F5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01CE901-C148-41E3-B02C-5FA5473296A4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F1F5"/>
          </a:solidFill>
        </a:fill>
      </a:tcStyle>
    </a:wholeTbl>
    <a:band1H>
      <a:tcTxStyle b="off" i="off"/>
      <a:tcStyle>
        <a:tcBdr/>
        <a:fill>
          <a:solidFill>
            <a:srgbClr val="CEE2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EE2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456" y="82"/>
      </p:cViewPr>
      <p:guideLst>
        <p:guide orient="horz" pos="2161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EB975755-8215-8C7D-FD6B-5A26785C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>
            <a:extLst>
              <a:ext uri="{FF2B5EF4-FFF2-40B4-BE49-F238E27FC236}">
                <a16:creationId xmlns:a16="http://schemas.microsoft.com/office/drawing/2014/main" id="{F5B7D6E7-4646-C589-58DF-7F37EBE495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0CBCD8F7-28F7-6087-4B9E-50F04F2468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329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B0B3692E-7A52-2B34-F792-99D73910B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>
            <a:extLst>
              <a:ext uri="{FF2B5EF4-FFF2-40B4-BE49-F238E27FC236}">
                <a16:creationId xmlns:a16="http://schemas.microsoft.com/office/drawing/2014/main" id="{E34186B3-49D0-8BCA-A854-2B6D666BEC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36F453A9-B589-67F2-E920-F185492B14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6121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16D3A4A5-7550-5407-D10F-FB7EC1F51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>
            <a:extLst>
              <a:ext uri="{FF2B5EF4-FFF2-40B4-BE49-F238E27FC236}">
                <a16:creationId xmlns:a16="http://schemas.microsoft.com/office/drawing/2014/main" id="{0F96FC25-DB0C-347B-DAE9-3531527FC5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E6D95FC6-4937-AD98-17C3-5237F8485B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72678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23B2D19C-B159-26BA-4AFF-40BAEBDB9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>
            <a:extLst>
              <a:ext uri="{FF2B5EF4-FFF2-40B4-BE49-F238E27FC236}">
                <a16:creationId xmlns:a16="http://schemas.microsoft.com/office/drawing/2014/main" id="{A4462270-44B0-CA4F-79AF-0501D95B3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2EC98E27-9A3B-3330-45ED-C97A0E6A3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7712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4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33" y="0"/>
            <a:ext cx="121807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1" y="1388"/>
            <a:ext cx="12187066" cy="685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>
            <a:spLocks noGrp="1"/>
          </p:cNvSpPr>
          <p:nvPr>
            <p:ph type="title"/>
          </p:nvPr>
        </p:nvSpPr>
        <p:spPr>
          <a:xfrm>
            <a:off x="963211" y="4406902"/>
            <a:ext cx="1036455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19"/>
              <a:buFont typeface="Calibri"/>
              <a:buNone/>
              <a:defRPr sz="481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body" idx="1"/>
          </p:nvPr>
        </p:nvSpPr>
        <p:spPr>
          <a:xfrm>
            <a:off x="963211" y="2906715"/>
            <a:ext cx="103645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rgbClr val="888888"/>
              </a:buClr>
              <a:buSzPts val="2344"/>
              <a:buFont typeface="Arial"/>
              <a:buNone/>
              <a:defRPr sz="234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rgbClr val="888888"/>
              </a:buClr>
              <a:buSzPts val="2214"/>
              <a:buFont typeface="Arial"/>
              <a:buNone/>
              <a:defRPr sz="221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rgbClr val="888888"/>
              </a:buClr>
              <a:buSzPts val="1954"/>
              <a:buFont typeface="Arial"/>
              <a:buNone/>
              <a:defRPr sz="195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body" idx="1"/>
          </p:nvPr>
        </p:nvSpPr>
        <p:spPr>
          <a:xfrm>
            <a:off x="609679" y="1600200"/>
            <a:ext cx="538550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43674" algn="l" rtl="0">
              <a:lnSpc>
                <a:spcPct val="100000"/>
              </a:lnSpc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•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0527" algn="l" rtl="0">
              <a:lnSpc>
                <a:spcPct val="100000"/>
              </a:lnSpc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–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–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»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2"/>
          </p:nvPr>
        </p:nvSpPr>
        <p:spPr>
          <a:xfrm>
            <a:off x="6198409" y="1600200"/>
            <a:ext cx="538550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43674" algn="l" rtl="0">
              <a:lnSpc>
                <a:spcPct val="100000"/>
              </a:lnSpc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•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0527" algn="l" rtl="0">
              <a:lnSpc>
                <a:spcPct val="100000"/>
              </a:lnSpc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–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–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»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body" idx="1"/>
          </p:nvPr>
        </p:nvSpPr>
        <p:spPr>
          <a:xfrm>
            <a:off x="609679" y="1535113"/>
            <a:ext cx="5387619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None/>
              <a:defRPr sz="2865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None/>
              <a:defRPr sz="221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2"/>
          </p:nvPr>
        </p:nvSpPr>
        <p:spPr>
          <a:xfrm>
            <a:off x="609679" y="2174876"/>
            <a:ext cx="5387619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0527" algn="l" rtl="0">
              <a:lnSpc>
                <a:spcPct val="100000"/>
              </a:lnSpc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2679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–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2679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»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2679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2679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2678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2678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3"/>
          </p:nvPr>
        </p:nvSpPr>
        <p:spPr>
          <a:xfrm>
            <a:off x="6194176" y="1535113"/>
            <a:ext cx="5389735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None/>
              <a:defRPr sz="2865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None/>
              <a:defRPr sz="221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4"/>
          </p:nvPr>
        </p:nvSpPr>
        <p:spPr>
          <a:xfrm>
            <a:off x="6194176" y="2174876"/>
            <a:ext cx="538973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0527" algn="l" rtl="0">
              <a:lnSpc>
                <a:spcPct val="100000"/>
              </a:lnSpc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2679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–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2679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»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2679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2679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2678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2678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>
            <a:spLocks noGrp="1"/>
          </p:cNvSpPr>
          <p:nvPr>
            <p:ph type="title"/>
          </p:nvPr>
        </p:nvSpPr>
        <p:spPr>
          <a:xfrm>
            <a:off x="609682" y="273051"/>
            <a:ext cx="4011605" cy="1162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4"/>
              <a:buFont typeface="Calibri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body" idx="1"/>
          </p:nvPr>
        </p:nvSpPr>
        <p:spPr>
          <a:xfrm>
            <a:off x="4767355" y="273051"/>
            <a:ext cx="6816554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76694" algn="l" rtl="0">
              <a:lnSpc>
                <a:spcPct val="100000"/>
              </a:lnSpc>
              <a:spcBef>
                <a:spcPts val="781"/>
              </a:spcBef>
              <a:spcAft>
                <a:spcPts val="0"/>
              </a:spcAft>
              <a:buClr>
                <a:schemeClr val="dk1"/>
              </a:buClr>
              <a:buSzPts val="3907"/>
              <a:buFont typeface="Arial"/>
              <a:buChar char="•"/>
              <a:defRPr sz="39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43674" algn="l" rtl="0">
              <a:lnSpc>
                <a:spcPct val="100000"/>
              </a:lnSpc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–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0527" algn="l" rtl="0">
              <a:lnSpc>
                <a:spcPct val="100000"/>
              </a:lnSpc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»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body" idx="2"/>
          </p:nvPr>
        </p:nvSpPr>
        <p:spPr>
          <a:xfrm>
            <a:off x="609682" y="1435102"/>
            <a:ext cx="4011605" cy="469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693"/>
              <a:buFont typeface="Arial"/>
              <a:buNone/>
              <a:defRPr sz="16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87"/>
              </a:spcBef>
              <a:spcAft>
                <a:spcPts val="0"/>
              </a:spcAft>
              <a:buClr>
                <a:schemeClr val="dk1"/>
              </a:buClr>
              <a:buSzPts val="1433"/>
              <a:buFont typeface="Arial"/>
              <a:buNone/>
              <a:defRPr sz="14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>
                <a:schemeClr val="dk1"/>
              </a:buClr>
              <a:buSzPts val="1172"/>
              <a:buFont typeface="Arial"/>
              <a:buNone/>
              <a:defRPr sz="117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"/>
          <p:cNvSpPr txBox="1">
            <a:spLocks noGrp="1"/>
          </p:cNvSpPr>
          <p:nvPr>
            <p:ph type="title"/>
          </p:nvPr>
        </p:nvSpPr>
        <p:spPr>
          <a:xfrm>
            <a:off x="2390029" y="4800599"/>
            <a:ext cx="7316153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4"/>
              <a:buFont typeface="Calibri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8"/>
          <p:cNvSpPr>
            <a:spLocks noGrp="1"/>
          </p:cNvSpPr>
          <p:nvPr>
            <p:ph type="pic" idx="2"/>
          </p:nvPr>
        </p:nvSpPr>
        <p:spPr>
          <a:xfrm>
            <a:off x="2390029" y="612777"/>
            <a:ext cx="7316153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8"/>
          <p:cNvSpPr txBox="1">
            <a:spLocks noGrp="1"/>
          </p:cNvSpPr>
          <p:nvPr>
            <p:ph type="body" idx="1"/>
          </p:nvPr>
        </p:nvSpPr>
        <p:spPr>
          <a:xfrm>
            <a:off x="2390029" y="5367339"/>
            <a:ext cx="7316153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693"/>
              <a:buFont typeface="Arial"/>
              <a:buNone/>
              <a:defRPr sz="16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87"/>
              </a:spcBef>
              <a:spcAft>
                <a:spcPts val="0"/>
              </a:spcAft>
              <a:buClr>
                <a:schemeClr val="dk1"/>
              </a:buClr>
              <a:buSzPts val="1433"/>
              <a:buFont typeface="Arial"/>
              <a:buNone/>
              <a:defRPr sz="14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>
                <a:schemeClr val="dk1"/>
              </a:buClr>
              <a:buSzPts val="1172"/>
              <a:buFont typeface="Arial"/>
              <a:buNone/>
              <a:defRPr sz="117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1"/>
          </p:nvPr>
        </p:nvSpPr>
        <p:spPr>
          <a:xfrm rot="5400000">
            <a:off x="3833815" y="-1623933"/>
            <a:ext cx="4525963" cy="10974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76694" algn="l" rtl="0">
              <a:lnSpc>
                <a:spcPct val="100000"/>
              </a:lnSpc>
              <a:spcBef>
                <a:spcPts val="781"/>
              </a:spcBef>
              <a:spcAft>
                <a:spcPts val="0"/>
              </a:spcAft>
              <a:buClr>
                <a:schemeClr val="dk1"/>
              </a:buClr>
              <a:buSzPts val="3907"/>
              <a:buFont typeface="Arial"/>
              <a:buChar char="•"/>
              <a:defRPr sz="39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43674" algn="l" rtl="0">
              <a:lnSpc>
                <a:spcPct val="100000"/>
              </a:lnSpc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–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0527" algn="l" rtl="0">
              <a:lnSpc>
                <a:spcPct val="100000"/>
              </a:lnSpc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»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 rot="5400000">
            <a:off x="7286368" y="1828622"/>
            <a:ext cx="5851525" cy="274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1"/>
          </p:nvPr>
        </p:nvSpPr>
        <p:spPr>
          <a:xfrm rot="5400000">
            <a:off x="1697641" y="-813323"/>
            <a:ext cx="5851525" cy="8027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76694" algn="l" rtl="0">
              <a:lnSpc>
                <a:spcPct val="100000"/>
              </a:lnSpc>
              <a:spcBef>
                <a:spcPts val="781"/>
              </a:spcBef>
              <a:spcAft>
                <a:spcPts val="0"/>
              </a:spcAft>
              <a:buClr>
                <a:schemeClr val="dk1"/>
              </a:buClr>
              <a:buSzPts val="3907"/>
              <a:buFont typeface="Arial"/>
              <a:buChar char="•"/>
              <a:defRPr sz="39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43674" algn="l" rtl="0">
              <a:lnSpc>
                <a:spcPct val="100000"/>
              </a:lnSpc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–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0527" algn="l" rtl="0">
              <a:lnSpc>
                <a:spcPct val="100000"/>
              </a:lnSpc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»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261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433" y="3172"/>
            <a:ext cx="12180722" cy="68516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/>
          <p:nvPr/>
        </p:nvSpPr>
        <p:spPr>
          <a:xfrm>
            <a:off x="439838" y="706056"/>
            <a:ext cx="4109013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Ingeniería para el Desarrollo Móvil</a:t>
            </a:r>
            <a:r>
              <a:rPr lang="es-E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Interfaz de Usuario, Gestión de Estado y Acceso a Dispositivos</a:t>
            </a:r>
            <a:endParaRPr lang="es-ES" sz="2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Presentador: Ing. Jesús Ariel González Bonilla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CO" sz="20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CO" sz="2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CO" sz="20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E1DE9DEB-F18D-5500-041B-DEAAB8DFE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01" y="0"/>
            <a:ext cx="70627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5ECF5F4D-0BD0-0634-2E4E-21CAA7192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>
            <a:extLst>
              <a:ext uri="{FF2B5EF4-FFF2-40B4-BE49-F238E27FC236}">
                <a16:creationId xmlns:a16="http://schemas.microsoft.com/office/drawing/2014/main" id="{04C83EAB-7CD1-868E-4A90-5E19A40EBD7A}"/>
              </a:ext>
            </a:extLst>
          </p:cNvPr>
          <p:cNvSpPr txBox="1"/>
          <p:nvPr/>
        </p:nvSpPr>
        <p:spPr>
          <a:xfrm>
            <a:off x="439838" y="706056"/>
            <a:ext cx="4109013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CO" sz="20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14" name="Picture 2" descr="Generated image">
            <a:extLst>
              <a:ext uri="{FF2B5EF4-FFF2-40B4-BE49-F238E27FC236}">
                <a16:creationId xmlns:a16="http://schemas.microsoft.com/office/drawing/2014/main" id="{EFEDD9CE-83F7-4761-F108-E942C668E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068" y="0"/>
            <a:ext cx="6688666" cy="66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74;p1">
            <a:extLst>
              <a:ext uri="{FF2B5EF4-FFF2-40B4-BE49-F238E27FC236}">
                <a16:creationId xmlns:a16="http://schemas.microsoft.com/office/drawing/2014/main" id="{DBC0C1AC-185F-332F-B676-576C95A762F5}"/>
              </a:ext>
            </a:extLst>
          </p:cNvPr>
          <p:cNvSpPr txBox="1"/>
          <p:nvPr/>
        </p:nvSpPr>
        <p:spPr>
          <a:xfrm>
            <a:off x="814660" y="706056"/>
            <a:ext cx="373419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800" b="1" dirty="0">
                <a:solidFill>
                  <a:schemeClr val="lt1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  <a:sym typeface="Calibri"/>
              </a:rPr>
              <a:t>Objetivo del Proyecto</a:t>
            </a:r>
            <a:endParaRPr sz="2800" b="1" i="0" u="none" strike="noStrike" cap="none" dirty="0">
              <a:solidFill>
                <a:schemeClr val="lt1"/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329E275-E125-BF7C-17D0-41FAEA14D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854" y="1229236"/>
            <a:ext cx="4589406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s-CO" altLang="es-CO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Desarrollar una </a:t>
            </a:r>
            <a:r>
              <a:rPr kumimoji="0" lang="es-CO" altLang="es-CO" sz="13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aplicación móvil híbrida</a:t>
            </a:r>
            <a:r>
              <a:rPr kumimoji="0" lang="es-CO" altLang="es-CO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es-CO" altLang="es-CO" sz="13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Ionic</a:t>
            </a:r>
            <a:r>
              <a:rPr kumimoji="0" lang="es-CO" altLang="es-CO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+ Angular.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s-CO" altLang="es-CO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s-CO" altLang="es-CO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Crear un </a:t>
            </a:r>
            <a:r>
              <a:rPr kumimoji="0" lang="es-CO" altLang="es-CO" sz="13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carrito de compras</a:t>
            </a:r>
            <a:r>
              <a:rPr kumimoji="0" lang="es-CO" altLang="es-CO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que permita: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	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s-CO" altLang="es-CO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s-CO" altLang="es-CO" sz="13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s-CO" altLang="es-CO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s-CO" altLang="es-CO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Practicar conceptos fundamentales de </a:t>
            </a:r>
            <a:r>
              <a:rPr kumimoji="0" lang="es-CO" altLang="es-CO" sz="13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Ionic</a:t>
            </a:r>
            <a:r>
              <a:rPr kumimoji="0" lang="es-CO" altLang="es-CO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3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5AADFD4-5032-110A-97FE-01DFFC86CB82}"/>
              </a:ext>
            </a:extLst>
          </p:cNvPr>
          <p:cNvSpPr txBox="1"/>
          <p:nvPr/>
        </p:nvSpPr>
        <p:spPr>
          <a:xfrm>
            <a:off x="808692" y="2050667"/>
            <a:ext cx="329602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8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s-CO" altLang="es-CO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Visualizar productos disponibles.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s-CO" altLang="es-CO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Agregar o quitar productos del carrito.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s-CO" altLang="es-CO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Calcular el total de la compra.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s-CO" altLang="es-CO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Simular el proceso de “</a:t>
            </a:r>
            <a:r>
              <a:rPr kumimoji="0" lang="es-CO" altLang="es-CO" sz="13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checkout</a:t>
            </a:r>
            <a:r>
              <a:rPr kumimoji="0" lang="es-CO" altLang="es-CO" sz="13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”.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4EE796D-58E8-AF86-9F7A-DCD9376ECE61}"/>
              </a:ext>
            </a:extLst>
          </p:cNvPr>
          <p:cNvSpPr txBox="1"/>
          <p:nvPr/>
        </p:nvSpPr>
        <p:spPr>
          <a:xfrm>
            <a:off x="808692" y="3287596"/>
            <a:ext cx="32960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Uso de plantillas (</a:t>
            </a:r>
            <a:r>
              <a:rPr kumimoji="0" lang="es-CO" altLang="es-CO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tabs</a:t>
            </a: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).</a:t>
            </a:r>
            <a:endParaRPr kumimoji="0" lang="es-CO" altLang="es-CO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Navegación entre páginas.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Servicios para la lógica de negocio.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Modelos de datos en </a:t>
            </a:r>
            <a:r>
              <a:rPr kumimoji="0" lang="es-CO" altLang="es-CO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TypeScript</a:t>
            </a: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1186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/>
          <p:nvPr/>
        </p:nvSpPr>
        <p:spPr>
          <a:xfrm>
            <a:off x="2145087" y="936321"/>
            <a:ext cx="58683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2800"/>
            </a:pPr>
            <a:r>
              <a:rPr lang="es-ES" sz="2800" b="1" dirty="0">
                <a:solidFill>
                  <a:schemeClr val="lt1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  <a:sym typeface="Calibri"/>
              </a:rPr>
              <a:t>Introducción al Proyecto</a:t>
            </a:r>
            <a:endParaRPr sz="2800" b="1" dirty="0">
              <a:solidFill>
                <a:schemeClr val="lt1"/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840069" y="1676769"/>
            <a:ext cx="779946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ES" sz="1800" dirty="0"/>
              <a:t>El proyecto </a:t>
            </a:r>
            <a:r>
              <a:rPr lang="es-ES" sz="1800" b="1" dirty="0"/>
              <a:t>Shopping </a:t>
            </a:r>
            <a:r>
              <a:rPr lang="es-ES" sz="1800" b="1" dirty="0" err="1"/>
              <a:t>Cart</a:t>
            </a:r>
            <a:r>
              <a:rPr lang="es-ES" sz="1800" dirty="0"/>
              <a:t> servirá como práctica guiada para entender cómo: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46EAFFC-59AE-37FA-4657-78C4645EAB27}"/>
              </a:ext>
            </a:extLst>
          </p:cNvPr>
          <p:cNvSpPr txBox="1"/>
          <p:nvPr/>
        </p:nvSpPr>
        <p:spPr>
          <a:xfrm>
            <a:off x="427423" y="4596108"/>
            <a:ext cx="75860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algn="just"/>
            <a:r>
              <a:rPr lang="es-ES" sz="1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 este ejercicio, se tendrá un primer acercamiento a la construcción de aplicaciones móviles híbridas con enfoque práctico y aplicable a escenarios reales.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5DBAE84-5DD6-3527-B3A8-9CF4A895CD0A}"/>
              </a:ext>
            </a:extLst>
          </p:cNvPr>
          <p:cNvSpPr txBox="1"/>
          <p:nvPr/>
        </p:nvSpPr>
        <p:spPr>
          <a:xfrm>
            <a:off x="1565728" y="241333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800" dirty="0"/>
              <a:t>Crear un proyecto en </a:t>
            </a:r>
            <a:r>
              <a:rPr lang="es-ES" sz="1800" dirty="0" err="1"/>
              <a:t>Ionic</a:t>
            </a:r>
            <a:r>
              <a:rPr lang="es-ES" sz="1800" dirty="0"/>
              <a:t> con Angular.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800" dirty="0"/>
              <a:t>Organizar la arquitectura del código (</a:t>
            </a:r>
            <a:r>
              <a:rPr lang="es-ES" sz="1800" dirty="0" err="1"/>
              <a:t>pages</a:t>
            </a:r>
            <a:r>
              <a:rPr lang="es-ES" sz="1800" dirty="0"/>
              <a:t>, </a:t>
            </a:r>
            <a:r>
              <a:rPr lang="es-ES" sz="1800" dirty="0" err="1"/>
              <a:t>components</a:t>
            </a:r>
            <a:r>
              <a:rPr lang="es-ES" sz="1800" dirty="0"/>
              <a:t>, </a:t>
            </a:r>
            <a:r>
              <a:rPr lang="es-ES" sz="1800" dirty="0" err="1"/>
              <a:t>services</a:t>
            </a:r>
            <a:r>
              <a:rPr lang="es-ES" sz="1800" dirty="0"/>
              <a:t>, </a:t>
            </a:r>
            <a:r>
              <a:rPr lang="es-ES" sz="1800" dirty="0" err="1"/>
              <a:t>models</a:t>
            </a:r>
            <a:r>
              <a:rPr lang="es-ES" sz="1800" dirty="0"/>
              <a:t>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800" dirty="0"/>
              <a:t>Definir modelos de datos y servicios para mantener la información centralizada.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800" dirty="0"/>
              <a:t>Aplicar buenas prácticas de modularidad, reutilización y escalabilidad.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AAEC53C-38B9-ED15-61DE-E27D03795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453" y="4183050"/>
            <a:ext cx="1996361" cy="19963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Imagen 3" descr="Imagen de la pantalla de un celular con letras&#10;&#10;El contenido generado por IA puede ser incorrecto.">
            <a:extLst>
              <a:ext uri="{FF2B5EF4-FFF2-40B4-BE49-F238E27FC236}">
                <a16:creationId xmlns:a16="http://schemas.microsoft.com/office/drawing/2014/main" id="{F6508FA9-0214-BBE6-F10B-4D5E7CEF5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374" y="1676769"/>
            <a:ext cx="2890971" cy="28909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0;p2">
            <a:extLst>
              <a:ext uri="{FF2B5EF4-FFF2-40B4-BE49-F238E27FC236}">
                <a16:creationId xmlns:a16="http://schemas.microsoft.com/office/drawing/2014/main" id="{C149282B-5ED8-88B8-82D7-AEE244A0C827}"/>
              </a:ext>
            </a:extLst>
          </p:cNvPr>
          <p:cNvSpPr txBox="1"/>
          <p:nvPr/>
        </p:nvSpPr>
        <p:spPr>
          <a:xfrm>
            <a:off x="2814080" y="666432"/>
            <a:ext cx="58683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buSzPts val="2800"/>
              <a:defRPr sz="2800" b="1">
                <a:solidFill>
                  <a:schemeClr val="lt1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</a:defRPr>
            </a:lvl1pPr>
          </a:lstStyle>
          <a:p>
            <a:r>
              <a:rPr lang="es-ES" dirty="0">
                <a:sym typeface="Calibri"/>
              </a:rPr>
              <a:t>Creación del proyecto</a:t>
            </a:r>
            <a:endParaRPr dirty="0">
              <a:sym typeface="Calibri"/>
            </a:endParaRPr>
          </a:p>
        </p:txBody>
      </p:sp>
      <p:sp>
        <p:nvSpPr>
          <p:cNvPr id="3" name="Google Shape;81;p2">
            <a:extLst>
              <a:ext uri="{FF2B5EF4-FFF2-40B4-BE49-F238E27FC236}">
                <a16:creationId xmlns:a16="http://schemas.microsoft.com/office/drawing/2014/main" id="{543B3A2B-2638-7FCE-3600-09F963F68C22}"/>
              </a:ext>
            </a:extLst>
          </p:cNvPr>
          <p:cNvSpPr txBox="1"/>
          <p:nvPr/>
        </p:nvSpPr>
        <p:spPr>
          <a:xfrm>
            <a:off x="862105" y="1471206"/>
            <a:ext cx="7639344" cy="427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1600" b="1" dirty="0" err="1">
                <a:solidFill>
                  <a:schemeClr val="tx1"/>
                </a:solidFill>
              </a:rPr>
              <a:t>Comando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inicial</a:t>
            </a:r>
            <a:r>
              <a:rPr lang="en-US" sz="1600" b="1" dirty="0">
                <a:solidFill>
                  <a:schemeClr val="tx1"/>
                </a:solidFill>
              </a:rPr>
              <a:t>: </a:t>
            </a:r>
          </a:p>
          <a:p>
            <a:pPr algn="just"/>
            <a:r>
              <a:rPr lang="en-US" sz="1600" dirty="0">
                <a:solidFill>
                  <a:schemeClr val="tx1"/>
                </a:solidFill>
              </a:rPr>
              <a:t>	</a:t>
            </a:r>
            <a:r>
              <a:rPr lang="en-US" sz="1600" b="1" dirty="0">
                <a:solidFill>
                  <a:srgbClr val="00B050"/>
                </a:solidFill>
              </a:rPr>
              <a:t>ionic start shopping-cart tabs --type=angular</a:t>
            </a:r>
          </a:p>
          <a:p>
            <a:pPr algn="just"/>
            <a:endParaRPr lang="en-US" sz="1600" b="1" dirty="0">
              <a:solidFill>
                <a:srgbClr val="00B050"/>
              </a:solidFill>
            </a:endParaRPr>
          </a:p>
          <a:p>
            <a:pPr algn="just"/>
            <a:r>
              <a:rPr lang="es-ES" sz="1600" b="1" dirty="0">
                <a:solidFill>
                  <a:schemeClr val="tx1"/>
                </a:solidFill>
              </a:rPr>
              <a:t>¿Qué hace?: </a:t>
            </a:r>
          </a:p>
          <a:p>
            <a:pPr algn="just"/>
            <a:r>
              <a:rPr lang="es-ES" sz="1600" dirty="0">
                <a:solidFill>
                  <a:schemeClr val="tx1"/>
                </a:solidFill>
              </a:rPr>
              <a:t>	</a:t>
            </a:r>
            <a:r>
              <a:rPr lang="es-ES" sz="1600" b="1" dirty="0" err="1">
                <a:solidFill>
                  <a:srgbClr val="00B050"/>
                </a:solidFill>
              </a:rPr>
              <a:t>ionic</a:t>
            </a:r>
            <a:r>
              <a:rPr lang="es-ES" sz="1600" b="1" dirty="0">
                <a:solidFill>
                  <a:srgbClr val="00B050"/>
                </a:solidFill>
              </a:rPr>
              <a:t> </a:t>
            </a:r>
            <a:r>
              <a:rPr lang="es-ES" sz="1600" b="1" dirty="0" err="1">
                <a:solidFill>
                  <a:srgbClr val="00B050"/>
                </a:solidFill>
              </a:rPr>
              <a:t>start</a:t>
            </a:r>
            <a:r>
              <a:rPr lang="es-ES" sz="1600" dirty="0">
                <a:solidFill>
                  <a:schemeClr val="tx1"/>
                </a:solidFill>
              </a:rPr>
              <a:t>: crea un nuevo proyecto </a:t>
            </a:r>
            <a:r>
              <a:rPr lang="es-ES" sz="1600" dirty="0" err="1">
                <a:solidFill>
                  <a:schemeClr val="tx1"/>
                </a:solidFill>
              </a:rPr>
              <a:t>Ionic</a:t>
            </a:r>
            <a:r>
              <a:rPr lang="es-ES" sz="1600" dirty="0">
                <a:solidFill>
                  <a:schemeClr val="tx1"/>
                </a:solidFill>
              </a:rPr>
              <a:t>.</a:t>
            </a:r>
          </a:p>
          <a:p>
            <a:pPr algn="just"/>
            <a:endParaRPr lang="es-ES" sz="1600" dirty="0">
              <a:solidFill>
                <a:schemeClr val="tx1"/>
              </a:solidFill>
            </a:endParaRPr>
          </a:p>
          <a:p>
            <a:pPr algn="just"/>
            <a:r>
              <a:rPr lang="es-ES" sz="1600" b="1" dirty="0">
                <a:solidFill>
                  <a:srgbClr val="00B050"/>
                </a:solidFill>
              </a:rPr>
              <a:t>	shopping-</a:t>
            </a:r>
            <a:r>
              <a:rPr lang="es-ES" sz="1600" b="1" dirty="0" err="1">
                <a:solidFill>
                  <a:srgbClr val="00B050"/>
                </a:solidFill>
              </a:rPr>
              <a:t>cart</a:t>
            </a:r>
            <a:r>
              <a:rPr lang="es-ES" sz="1600" b="1" dirty="0">
                <a:solidFill>
                  <a:srgbClr val="00B050"/>
                </a:solidFill>
              </a:rPr>
              <a:t>:</a:t>
            </a:r>
            <a:r>
              <a:rPr lang="es-ES" sz="1600" dirty="0">
                <a:solidFill>
                  <a:schemeClr val="tx1"/>
                </a:solidFill>
              </a:rPr>
              <a:t> nombre del proyecto → crea la carpeta shopping-</a:t>
            </a:r>
            <a:r>
              <a:rPr lang="es-ES" sz="1600" dirty="0" err="1">
                <a:solidFill>
                  <a:schemeClr val="tx1"/>
                </a:solidFill>
              </a:rPr>
              <a:t>cart</a:t>
            </a:r>
            <a:r>
              <a:rPr lang="es-ES" sz="1600" dirty="0">
                <a:solidFill>
                  <a:schemeClr val="tx1"/>
                </a:solidFill>
              </a:rPr>
              <a:t>.</a:t>
            </a:r>
          </a:p>
          <a:p>
            <a:pPr algn="just"/>
            <a:endParaRPr lang="es-ES" sz="1600" dirty="0">
              <a:solidFill>
                <a:schemeClr val="tx1"/>
              </a:solidFill>
            </a:endParaRPr>
          </a:p>
          <a:p>
            <a:pPr algn="just"/>
            <a:r>
              <a:rPr lang="es-ES" sz="1600" dirty="0">
                <a:solidFill>
                  <a:schemeClr val="tx1"/>
                </a:solidFill>
              </a:rPr>
              <a:t>	</a:t>
            </a:r>
            <a:r>
              <a:rPr lang="es-ES" sz="1600" b="1" dirty="0" err="1">
                <a:solidFill>
                  <a:srgbClr val="00B050"/>
                </a:solidFill>
              </a:rPr>
              <a:t>tabs</a:t>
            </a:r>
            <a:r>
              <a:rPr lang="es-ES" sz="1600" b="1" dirty="0">
                <a:solidFill>
                  <a:srgbClr val="00B050"/>
                </a:solidFill>
              </a:rPr>
              <a:t>:</a:t>
            </a:r>
            <a:r>
              <a:rPr lang="es-ES" sz="1600" dirty="0">
                <a:solidFill>
                  <a:schemeClr val="tx1"/>
                </a:solidFill>
              </a:rPr>
              <a:t> usa la plantilla de </a:t>
            </a:r>
            <a:r>
              <a:rPr lang="es-ES" sz="1600" dirty="0" err="1">
                <a:solidFill>
                  <a:schemeClr val="tx1"/>
                </a:solidFill>
              </a:rPr>
              <a:t>tabs</a:t>
            </a:r>
            <a:r>
              <a:rPr lang="es-ES" sz="1600" dirty="0">
                <a:solidFill>
                  <a:schemeClr val="tx1"/>
                </a:solidFill>
              </a:rPr>
              <a:t> (3 pestañas por defecto, con rutas y 	contenido ejemplo). Ideal para practicar navegación.</a:t>
            </a:r>
          </a:p>
          <a:p>
            <a:pPr algn="just"/>
            <a:endParaRPr lang="es-ES" sz="1600" dirty="0">
              <a:solidFill>
                <a:schemeClr val="tx1"/>
              </a:solidFill>
            </a:endParaRPr>
          </a:p>
          <a:p>
            <a:pPr algn="just"/>
            <a:r>
              <a:rPr lang="es-ES" sz="1600" dirty="0">
                <a:solidFill>
                  <a:schemeClr val="tx1"/>
                </a:solidFill>
              </a:rPr>
              <a:t>	</a:t>
            </a:r>
            <a:r>
              <a:rPr lang="es-ES" sz="1600" b="1" dirty="0">
                <a:solidFill>
                  <a:srgbClr val="00B050"/>
                </a:solidFill>
              </a:rPr>
              <a:t>--</a:t>
            </a:r>
            <a:r>
              <a:rPr lang="es-ES" sz="1600" b="1" dirty="0" err="1">
                <a:solidFill>
                  <a:srgbClr val="00B050"/>
                </a:solidFill>
              </a:rPr>
              <a:t>type</a:t>
            </a:r>
            <a:r>
              <a:rPr lang="es-ES" sz="1600" b="1" dirty="0">
                <a:solidFill>
                  <a:srgbClr val="00B050"/>
                </a:solidFill>
              </a:rPr>
              <a:t>=angular: </a:t>
            </a:r>
            <a:r>
              <a:rPr lang="es-ES" sz="1600" dirty="0">
                <a:solidFill>
                  <a:schemeClr val="tx1"/>
                </a:solidFill>
              </a:rPr>
              <a:t>fuerza un proyecto Angular (controla 	estructura/archivos TS).</a:t>
            </a:r>
          </a:p>
          <a:p>
            <a:pPr algn="just"/>
            <a:endParaRPr lang="es-ES" sz="1600" dirty="0">
              <a:solidFill>
                <a:schemeClr val="tx1"/>
              </a:solidFill>
            </a:endParaRPr>
          </a:p>
          <a:p>
            <a:pPr algn="just"/>
            <a:r>
              <a:rPr lang="es-ES" sz="1600" b="1" dirty="0">
                <a:solidFill>
                  <a:schemeClr val="tx1"/>
                </a:solidFill>
              </a:rPr>
              <a:t>Resultado automático: </a:t>
            </a:r>
            <a:r>
              <a:rPr lang="es-ES" sz="1600" dirty="0">
                <a:solidFill>
                  <a:schemeClr val="tx1"/>
                </a:solidFill>
              </a:rPr>
              <a:t>instala dependencias (</a:t>
            </a:r>
            <a:r>
              <a:rPr lang="es-ES" sz="1600" dirty="0" err="1">
                <a:solidFill>
                  <a:schemeClr val="tx1"/>
                </a:solidFill>
              </a:rPr>
              <a:t>node_modules</a:t>
            </a:r>
            <a:r>
              <a:rPr lang="es-ES" sz="1600" dirty="0">
                <a:solidFill>
                  <a:schemeClr val="tx1"/>
                </a:solidFill>
              </a:rPr>
              <a:t>), genera </a:t>
            </a:r>
            <a:r>
              <a:rPr lang="es-ES" sz="1600" dirty="0" err="1">
                <a:solidFill>
                  <a:schemeClr val="tx1"/>
                </a:solidFill>
              </a:rPr>
              <a:t>src</a:t>
            </a:r>
            <a:r>
              <a:rPr lang="es-ES" sz="1600" dirty="0">
                <a:solidFill>
                  <a:schemeClr val="tx1"/>
                </a:solidFill>
              </a:rPr>
              <a:t>/, </a:t>
            </a:r>
            <a:r>
              <a:rPr lang="es-ES" sz="1600" dirty="0" err="1">
                <a:solidFill>
                  <a:schemeClr val="tx1"/>
                </a:solidFill>
              </a:rPr>
              <a:t>ionic.config.json</a:t>
            </a:r>
            <a:r>
              <a:rPr lang="es-ES" sz="1600" dirty="0">
                <a:solidFill>
                  <a:schemeClr val="tx1"/>
                </a:solidFill>
              </a:rPr>
              <a:t>, </a:t>
            </a:r>
            <a:r>
              <a:rPr lang="es-ES" sz="1600" dirty="0" err="1">
                <a:solidFill>
                  <a:schemeClr val="tx1"/>
                </a:solidFill>
              </a:rPr>
              <a:t>package.json</a:t>
            </a:r>
            <a:r>
              <a:rPr lang="es-ES" sz="1600" dirty="0">
                <a:solidFill>
                  <a:schemeClr val="tx1"/>
                </a:solidFill>
              </a:rPr>
              <a:t>, </a:t>
            </a:r>
            <a:r>
              <a:rPr lang="es-ES" sz="1600" dirty="0" err="1">
                <a:solidFill>
                  <a:schemeClr val="tx1"/>
                </a:solidFill>
              </a:rPr>
              <a:t>angular.json</a:t>
            </a:r>
            <a:r>
              <a:rPr lang="es-ES" sz="1600" dirty="0">
                <a:solidFill>
                  <a:schemeClr val="tx1"/>
                </a:solidFill>
              </a:rPr>
              <a:t>, archivos </a:t>
            </a:r>
            <a:r>
              <a:rPr lang="es-ES" sz="1600" dirty="0" err="1">
                <a:solidFill>
                  <a:schemeClr val="tx1"/>
                </a:solidFill>
              </a:rPr>
              <a:t>TypeScript</a:t>
            </a:r>
            <a:r>
              <a:rPr lang="es-ES" sz="1600" dirty="0">
                <a:solidFill>
                  <a:schemeClr val="tx1"/>
                </a:solidFill>
              </a:rPr>
              <a:t>, estilos y el </a:t>
            </a:r>
            <a:r>
              <a:rPr lang="es-ES" sz="1600" dirty="0" err="1">
                <a:solidFill>
                  <a:schemeClr val="tx1"/>
                </a:solidFill>
              </a:rPr>
              <a:t>boilerplate</a:t>
            </a:r>
            <a:r>
              <a:rPr lang="es-ES" sz="1600" dirty="0">
                <a:solidFill>
                  <a:schemeClr val="tx1"/>
                </a:solidFill>
              </a:rPr>
              <a:t> de </a:t>
            </a:r>
            <a:r>
              <a:rPr lang="es-ES" sz="1600" dirty="0" err="1">
                <a:solidFill>
                  <a:schemeClr val="tx1"/>
                </a:solidFill>
              </a:rPr>
              <a:t>tabs</a:t>
            </a:r>
            <a:r>
              <a:rPr lang="es-ES" sz="16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DCF0D34-3441-3BBC-2F30-DE1CE548A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486" y="2105283"/>
            <a:ext cx="2793834" cy="27938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0ED2450-48F7-A91F-5BA8-AE9FB5FA9742}"/>
              </a:ext>
            </a:extLst>
          </p:cNvPr>
          <p:cNvSpPr/>
          <p:nvPr/>
        </p:nvSpPr>
        <p:spPr>
          <a:xfrm>
            <a:off x="4934465" y="1343312"/>
            <a:ext cx="3739976" cy="6462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32A6DCD-41EB-E30C-77D9-BCB00243C1BC}"/>
              </a:ext>
            </a:extLst>
          </p:cNvPr>
          <p:cNvSpPr/>
          <p:nvPr/>
        </p:nvSpPr>
        <p:spPr>
          <a:xfrm>
            <a:off x="4934464" y="2094752"/>
            <a:ext cx="3739977" cy="6462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8055CBB-0957-E9DE-A92C-FE0BF2A13AA8}"/>
              </a:ext>
            </a:extLst>
          </p:cNvPr>
          <p:cNvSpPr/>
          <p:nvPr/>
        </p:nvSpPr>
        <p:spPr>
          <a:xfrm>
            <a:off x="4934465" y="2857433"/>
            <a:ext cx="3739978" cy="74250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068BDA7-2809-6AD3-0F0E-C3D51720D9C8}"/>
              </a:ext>
            </a:extLst>
          </p:cNvPr>
          <p:cNvSpPr/>
          <p:nvPr/>
        </p:nvSpPr>
        <p:spPr>
          <a:xfrm>
            <a:off x="4931128" y="3716326"/>
            <a:ext cx="3739975" cy="127156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E3EAD5A-9AA0-75AD-08F1-BF751F1A5CC7}"/>
              </a:ext>
            </a:extLst>
          </p:cNvPr>
          <p:cNvSpPr txBox="1"/>
          <p:nvPr/>
        </p:nvSpPr>
        <p:spPr>
          <a:xfrm>
            <a:off x="4627512" y="1343312"/>
            <a:ext cx="404692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Plantilla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tabs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lista para navegar entre tres páginas (tab1, tab2, tab3).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es-E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Arquitectura modular → cada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tab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tiene su propia carpeta.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es-E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Rutas ya configuradas para que puedas abrir cada pestaña desde la barra inferior.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es-ES" sz="16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Estilos globales en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theme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global.scss.Soporte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Angular con archivos como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main.ts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polyfills.ts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zone-flags.ts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</p:txBody>
      </p:sp>
      <p:sp>
        <p:nvSpPr>
          <p:cNvPr id="2" name="Google Shape;80;p2">
            <a:extLst>
              <a:ext uri="{FF2B5EF4-FFF2-40B4-BE49-F238E27FC236}">
                <a16:creationId xmlns:a16="http://schemas.microsoft.com/office/drawing/2014/main" id="{88CEE491-F163-5FC4-1FC7-1149C385B9CE}"/>
              </a:ext>
            </a:extLst>
          </p:cNvPr>
          <p:cNvSpPr txBox="1"/>
          <p:nvPr/>
        </p:nvSpPr>
        <p:spPr>
          <a:xfrm>
            <a:off x="3780439" y="591872"/>
            <a:ext cx="586836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SzPts val="2800"/>
              <a:defRPr sz="2800" b="1">
                <a:solidFill>
                  <a:schemeClr val="lt1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</a:defRPr>
            </a:lvl1pPr>
          </a:lstStyle>
          <a:p>
            <a:r>
              <a:rPr lang="es-ES" dirty="0">
                <a:sym typeface="Calibri"/>
              </a:rPr>
              <a:t>Estructura generada:</a:t>
            </a:r>
            <a:endParaRPr dirty="0">
              <a:sym typeface="Calibri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89454D9-4B4B-D433-D976-FBCAD3168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783" y="705180"/>
            <a:ext cx="1790622" cy="50641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F4E0F7B-C479-904E-B0DD-ED97622E2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6354" y="4352109"/>
            <a:ext cx="1576546" cy="15765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4E1DCA2-8EDA-0C9C-D002-985CDAAD59FA}"/>
              </a:ext>
            </a:extLst>
          </p:cNvPr>
          <p:cNvSpPr txBox="1"/>
          <p:nvPr/>
        </p:nvSpPr>
        <p:spPr>
          <a:xfrm>
            <a:off x="568411" y="3051755"/>
            <a:ext cx="5395784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s-ES" sz="1300" dirty="0"/>
          </a:p>
          <a:p>
            <a:pPr algn="just"/>
            <a:r>
              <a:rPr lang="es-ES" sz="1300" b="1" dirty="0"/>
              <a:t>1. </a:t>
            </a:r>
            <a:r>
              <a:rPr lang="es-ES" sz="1300" b="1" dirty="0" err="1"/>
              <a:t>pages</a:t>
            </a:r>
            <a:r>
              <a:rPr lang="es-ES" sz="1300" b="1" dirty="0"/>
              <a:t>/ </a:t>
            </a:r>
            <a:r>
              <a:rPr lang="es-ES" sz="1300" dirty="0"/>
              <a:t>→ Páginas principales de la app: Aquí guardamos todas las pantallas completas que el usuario verá en la aplicación.</a:t>
            </a:r>
          </a:p>
          <a:p>
            <a:pPr algn="just"/>
            <a:r>
              <a:rPr lang="es-ES" sz="1300" b="1" dirty="0"/>
              <a:t>Ejemplos</a:t>
            </a:r>
            <a:r>
              <a:rPr lang="es-ES" sz="1300" dirty="0"/>
              <a:t> en un carrito:</a:t>
            </a:r>
          </a:p>
          <a:p>
            <a:pPr algn="just"/>
            <a:endParaRPr lang="es-ES" sz="1300" dirty="0"/>
          </a:p>
          <a:p>
            <a:pPr algn="just"/>
            <a:endParaRPr lang="es-ES" sz="1300" dirty="0"/>
          </a:p>
          <a:p>
            <a:pPr algn="just"/>
            <a:endParaRPr lang="es-ES" sz="1300" dirty="0"/>
          </a:p>
          <a:p>
            <a:pPr algn="just"/>
            <a:endParaRPr lang="es-ES" sz="1300" dirty="0"/>
          </a:p>
          <a:p>
            <a:pPr algn="just"/>
            <a:endParaRPr lang="es-ES" sz="1300" dirty="0"/>
          </a:p>
          <a:p>
            <a:pPr algn="just"/>
            <a:endParaRPr lang="es-ES" sz="1300" dirty="0"/>
          </a:p>
          <a:p>
            <a:pPr algn="just"/>
            <a:r>
              <a:rPr lang="es-ES" sz="1300" b="1" dirty="0"/>
              <a:t>2.  </a:t>
            </a:r>
            <a:r>
              <a:rPr lang="es-ES" sz="1300" b="1" dirty="0" err="1"/>
              <a:t>components</a:t>
            </a:r>
            <a:r>
              <a:rPr lang="es-ES" sz="1300" b="1" dirty="0"/>
              <a:t>/ </a:t>
            </a:r>
            <a:r>
              <a:rPr lang="es-ES" sz="1300" dirty="0"/>
              <a:t>→ Bloques reutilizables: Aquí guardamos piezas pequeñas de interfaz que podemos usar en varias páginas.</a:t>
            </a:r>
          </a:p>
          <a:p>
            <a:pPr algn="just"/>
            <a:r>
              <a:rPr lang="es-ES" sz="1300" b="1" dirty="0"/>
              <a:t>Ejemplos:</a:t>
            </a:r>
            <a:endParaRPr lang="es-ES" sz="1300" dirty="0"/>
          </a:p>
          <a:p>
            <a:pPr algn="just"/>
            <a:endParaRPr lang="es-ES" sz="1300" dirty="0"/>
          </a:p>
          <a:p>
            <a:pPr algn="just"/>
            <a:endParaRPr lang="es-ES" sz="1300" dirty="0"/>
          </a:p>
        </p:txBody>
      </p:sp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A0C570BC-843C-2674-BB3A-5860AE415CCA}"/>
              </a:ext>
            </a:extLst>
          </p:cNvPr>
          <p:cNvSpPr txBox="1"/>
          <p:nvPr/>
        </p:nvSpPr>
        <p:spPr>
          <a:xfrm>
            <a:off x="3030012" y="379552"/>
            <a:ext cx="58683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SzPts val="2800"/>
              <a:defRPr sz="2800" b="1">
                <a:solidFill>
                  <a:schemeClr val="lt1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</a:defRPr>
            </a:lvl1pPr>
          </a:lstStyle>
          <a:p>
            <a:r>
              <a:rPr lang="es-ES" dirty="0">
                <a:sym typeface="Calibri"/>
              </a:rPr>
              <a:t>Estructura del proyecto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583493-2F52-91E9-35B3-DEF9D16BB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539" y="1793466"/>
            <a:ext cx="2235953" cy="12582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40C2509-F4FE-8B44-FB4A-A3B69403D88B}"/>
              </a:ext>
            </a:extLst>
          </p:cNvPr>
          <p:cNvSpPr txBox="1"/>
          <p:nvPr/>
        </p:nvSpPr>
        <p:spPr>
          <a:xfrm>
            <a:off x="1444913" y="3917373"/>
            <a:ext cx="45839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sz="1200" b="1" dirty="0"/>
              <a:t>home/ </a:t>
            </a:r>
            <a:r>
              <a:rPr lang="es-ES" sz="1200" dirty="0"/>
              <a:t>→ Pantalla inicial con la lista de productos.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sz="1200" b="1" dirty="0" err="1"/>
              <a:t>cart</a:t>
            </a:r>
            <a:r>
              <a:rPr lang="es-ES" sz="1200" b="1" dirty="0"/>
              <a:t>/ </a:t>
            </a:r>
            <a:r>
              <a:rPr lang="es-ES" sz="1200" dirty="0"/>
              <a:t>→ Muestra los productos que el usuario agregó al carrito.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sz="1200" b="1" dirty="0" err="1"/>
              <a:t>checkout</a:t>
            </a:r>
            <a:r>
              <a:rPr lang="es-ES" sz="1200" b="1" dirty="0"/>
              <a:t>/ </a:t>
            </a:r>
            <a:r>
              <a:rPr lang="es-ES" sz="1200" dirty="0"/>
              <a:t>→ Resumen de la compra y botón de “Finalizar compra”.</a:t>
            </a:r>
            <a:endParaRPr lang="es-CO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830AD04-CB6A-F835-964F-D1CE9553D383}"/>
              </a:ext>
            </a:extLst>
          </p:cNvPr>
          <p:cNvSpPr txBox="1"/>
          <p:nvPr/>
        </p:nvSpPr>
        <p:spPr>
          <a:xfrm>
            <a:off x="1444913" y="5534149"/>
            <a:ext cx="4583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CO" sz="1200" b="1" dirty="0" err="1"/>
              <a:t>product-card</a:t>
            </a:r>
            <a:r>
              <a:rPr lang="es-CO" sz="1200" b="1" dirty="0"/>
              <a:t>/</a:t>
            </a:r>
            <a:r>
              <a:rPr lang="es-CO" sz="1200" dirty="0"/>
              <a:t> → Una tarjeta que muestra un producto (imagen, nombre, precio y botón “Agregar”).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CO" sz="1200" b="1" dirty="0" err="1"/>
              <a:t>cart-item</a:t>
            </a:r>
            <a:r>
              <a:rPr lang="es-CO" sz="1200" b="1" dirty="0"/>
              <a:t>/ </a:t>
            </a:r>
            <a:r>
              <a:rPr lang="es-CO" sz="1200" dirty="0"/>
              <a:t>→ Un componente que muestra un producto dentro del carrito.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EC589B3-C287-8A07-FCDF-E9317D03A9B8}"/>
              </a:ext>
            </a:extLst>
          </p:cNvPr>
          <p:cNvSpPr txBox="1"/>
          <p:nvPr/>
        </p:nvSpPr>
        <p:spPr>
          <a:xfrm>
            <a:off x="927365" y="1155085"/>
            <a:ext cx="97735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Después de crear el proyecto con </a:t>
            </a:r>
            <a:r>
              <a:rPr lang="es-ES" dirty="0" err="1"/>
              <a:t>Ionic</a:t>
            </a:r>
            <a:r>
              <a:rPr lang="es-ES" dirty="0"/>
              <a:t>, es muy importante organizar las carpetas para que el código sea claro, escalable y fácil de </a:t>
            </a:r>
            <a:r>
              <a:rPr lang="es-ES" dirty="0" err="1"/>
              <a:t>mantener.Por</a:t>
            </a:r>
            <a:r>
              <a:rPr lang="es-ES" dirty="0"/>
              <a:t> eso, vamos a crear cuatro carpetas principales dentro de </a:t>
            </a:r>
            <a:r>
              <a:rPr lang="es-ES" dirty="0" err="1"/>
              <a:t>src</a:t>
            </a:r>
            <a:r>
              <a:rPr lang="es-ES" dirty="0"/>
              <a:t>/app/: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A3B3D40-10C5-ABFF-89D4-07184483E43A}"/>
              </a:ext>
            </a:extLst>
          </p:cNvPr>
          <p:cNvSpPr txBox="1"/>
          <p:nvPr/>
        </p:nvSpPr>
        <p:spPr>
          <a:xfrm>
            <a:off x="6465221" y="3020694"/>
            <a:ext cx="5562022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sz="1300" dirty="0"/>
          </a:p>
          <a:p>
            <a:r>
              <a:rPr lang="es-ES" sz="1300" b="1" dirty="0"/>
              <a:t>3. </a:t>
            </a:r>
            <a:r>
              <a:rPr lang="es-ES" sz="1300" b="1" dirty="0" err="1"/>
              <a:t>services</a:t>
            </a:r>
            <a:r>
              <a:rPr lang="es-ES" sz="1300" b="1" dirty="0"/>
              <a:t>/ </a:t>
            </a:r>
            <a:r>
              <a:rPr lang="es-ES" sz="1300" dirty="0"/>
              <a:t>→ Lógica y conexión de datos: Aquí colocamos clases de Angular (</a:t>
            </a:r>
            <a:r>
              <a:rPr lang="es-ES" sz="1300" dirty="0" err="1"/>
              <a:t>services</a:t>
            </a:r>
            <a:r>
              <a:rPr lang="es-ES" sz="1300" dirty="0"/>
              <a:t>) que se encargan de manejar la lógica y los datos. Las páginas llaman a los servicios para no llenarse de lógica innecesaria.</a:t>
            </a:r>
          </a:p>
          <a:p>
            <a:pPr algn="just"/>
            <a:r>
              <a:rPr lang="es-ES" sz="1300" b="1" dirty="0"/>
              <a:t>Ejemplos:</a:t>
            </a:r>
          </a:p>
          <a:p>
            <a:endParaRPr lang="es-ES" sz="1300" dirty="0"/>
          </a:p>
          <a:p>
            <a:endParaRPr lang="es-ES" sz="1300" dirty="0"/>
          </a:p>
          <a:p>
            <a:endParaRPr lang="es-ES" sz="1300" dirty="0"/>
          </a:p>
          <a:p>
            <a:endParaRPr lang="es-ES" sz="1300" dirty="0"/>
          </a:p>
          <a:p>
            <a:endParaRPr lang="es-ES" sz="1300" dirty="0"/>
          </a:p>
          <a:p>
            <a:endParaRPr lang="es-ES" sz="1300" dirty="0"/>
          </a:p>
          <a:p>
            <a:r>
              <a:rPr lang="es-ES" sz="1300" b="1" dirty="0"/>
              <a:t>4. </a:t>
            </a:r>
            <a:r>
              <a:rPr lang="es-ES" sz="1300" b="1" dirty="0" err="1"/>
              <a:t>models</a:t>
            </a:r>
            <a:r>
              <a:rPr lang="es-ES" sz="1300" b="1" dirty="0"/>
              <a:t>/ </a:t>
            </a:r>
            <a:r>
              <a:rPr lang="es-ES" sz="1300" dirty="0"/>
              <a:t>→ Interfaces y clases de </a:t>
            </a:r>
            <a:r>
              <a:rPr lang="es-ES" sz="1300" dirty="0" err="1"/>
              <a:t>negocio:Aquí</a:t>
            </a:r>
            <a:r>
              <a:rPr lang="es-ES" sz="1300" dirty="0"/>
              <a:t> definimos las estructuras de datos que usaremos en la aplicación, para que todo tenga un mismo formato y evitemos errores.</a:t>
            </a:r>
          </a:p>
          <a:p>
            <a:endParaRPr lang="es-ES" sz="13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B2ECD37-16EA-9701-BBAE-49D3384DDFCC}"/>
              </a:ext>
            </a:extLst>
          </p:cNvPr>
          <p:cNvSpPr txBox="1"/>
          <p:nvPr/>
        </p:nvSpPr>
        <p:spPr>
          <a:xfrm>
            <a:off x="7396890" y="3986812"/>
            <a:ext cx="48356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sz="1200" b="1" dirty="0"/>
              <a:t>home/</a:t>
            </a:r>
            <a:r>
              <a:rPr lang="es-ES" sz="1200" dirty="0"/>
              <a:t> → Pantalla inicial con la lista de productos.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sz="1200" b="1" dirty="0" err="1"/>
              <a:t>cart</a:t>
            </a:r>
            <a:r>
              <a:rPr lang="es-ES" sz="1200" b="1" dirty="0"/>
              <a:t>/</a:t>
            </a:r>
            <a:r>
              <a:rPr lang="es-ES" sz="1200" dirty="0"/>
              <a:t> → Muestra los productos que el usuario agregó al carrito.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sz="1200" b="1" dirty="0" err="1"/>
              <a:t>checkout</a:t>
            </a:r>
            <a:r>
              <a:rPr lang="es-ES" sz="1200" b="1" dirty="0"/>
              <a:t>/</a:t>
            </a:r>
            <a:r>
              <a:rPr lang="es-ES" sz="1200" dirty="0"/>
              <a:t>→ Resumen de la compra y botón de “Finalizar compra”.</a:t>
            </a:r>
            <a:endParaRPr lang="es-CO" sz="1200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4F3E1D3-6FCF-F251-6B37-BEEC41DB2803}"/>
              </a:ext>
            </a:extLst>
          </p:cNvPr>
          <p:cNvSpPr/>
          <p:nvPr/>
        </p:nvSpPr>
        <p:spPr>
          <a:xfrm>
            <a:off x="416438" y="3222829"/>
            <a:ext cx="5767280" cy="1682175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D022475B-85A4-4487-36F7-04CA61BD6634}"/>
              </a:ext>
            </a:extLst>
          </p:cNvPr>
          <p:cNvSpPr/>
          <p:nvPr/>
        </p:nvSpPr>
        <p:spPr>
          <a:xfrm>
            <a:off x="416438" y="4933037"/>
            <a:ext cx="5767280" cy="1432110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A16810F1-F889-CD66-F850-04D228A98AB8}"/>
              </a:ext>
            </a:extLst>
          </p:cNvPr>
          <p:cNvSpPr/>
          <p:nvPr/>
        </p:nvSpPr>
        <p:spPr>
          <a:xfrm>
            <a:off x="6386765" y="3202795"/>
            <a:ext cx="5767280" cy="1702210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C1971ED6-FE4E-6C42-A8BD-593499686B69}"/>
              </a:ext>
            </a:extLst>
          </p:cNvPr>
          <p:cNvSpPr/>
          <p:nvPr/>
        </p:nvSpPr>
        <p:spPr>
          <a:xfrm>
            <a:off x="6335691" y="4933037"/>
            <a:ext cx="5767280" cy="1432110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24634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1223E-467F-2931-C3F2-EDF0C2EE4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0;p2">
            <a:extLst>
              <a:ext uri="{FF2B5EF4-FFF2-40B4-BE49-F238E27FC236}">
                <a16:creationId xmlns:a16="http://schemas.microsoft.com/office/drawing/2014/main" id="{9656D7BE-0AB4-C51B-B682-0A31611B3518}"/>
              </a:ext>
            </a:extLst>
          </p:cNvPr>
          <p:cNvSpPr txBox="1"/>
          <p:nvPr/>
        </p:nvSpPr>
        <p:spPr>
          <a:xfrm>
            <a:off x="2732289" y="652619"/>
            <a:ext cx="689812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SzPts val="2800"/>
              <a:defRPr sz="2800" b="1">
                <a:solidFill>
                  <a:schemeClr val="lt1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</a:defRPr>
            </a:lvl1pPr>
          </a:lstStyle>
          <a:p>
            <a:r>
              <a:rPr lang="es-ES" dirty="0">
                <a:sym typeface="Calibri"/>
              </a:rPr>
              <a:t>Definir las entidades (Modelos)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ADF4C18-A160-E09B-A9EB-A6D4E3D30E89}"/>
              </a:ext>
            </a:extLst>
          </p:cNvPr>
          <p:cNvSpPr/>
          <p:nvPr/>
        </p:nvSpPr>
        <p:spPr>
          <a:xfrm>
            <a:off x="2098357" y="2421925"/>
            <a:ext cx="8165988" cy="88609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chemeClr val="tx1"/>
                </a:solidFill>
              </a:rPr>
              <a:t>Nos ayuda a organizar mejor los datos.</a:t>
            </a:r>
          </a:p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chemeClr val="tx1"/>
                </a:solidFill>
              </a:rPr>
              <a:t>Angular y </a:t>
            </a:r>
            <a:r>
              <a:rPr lang="es-ES" dirty="0" err="1">
                <a:solidFill>
                  <a:schemeClr val="tx1"/>
                </a:solidFill>
              </a:rPr>
              <a:t>TypeScript</a:t>
            </a:r>
            <a:r>
              <a:rPr lang="es-ES" dirty="0">
                <a:solidFill>
                  <a:schemeClr val="tx1"/>
                </a:solidFill>
              </a:rPr>
              <a:t> nos obligan a respetar esos "planos".</a:t>
            </a:r>
          </a:p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chemeClr val="tx1"/>
                </a:solidFill>
              </a:rPr>
              <a:t>Evitamos errores comunes (ej. que falte un campo o que tenga un tipo incorrecto).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C856F5-3A93-7D5E-6451-E924F460AEA3}"/>
              </a:ext>
            </a:extLst>
          </p:cNvPr>
          <p:cNvSpPr txBox="1"/>
          <p:nvPr/>
        </p:nvSpPr>
        <p:spPr>
          <a:xfrm>
            <a:off x="1505235" y="1355106"/>
            <a:ext cx="89568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dirty="0"/>
              <a:t>En aplicaciones de Angular + </a:t>
            </a:r>
            <a:r>
              <a:rPr lang="es-CO" dirty="0" err="1"/>
              <a:t>Ionic</a:t>
            </a:r>
            <a:r>
              <a:rPr lang="es-CO" dirty="0"/>
              <a:t>, es una buena práctica definir modelos de datos usando interfaces o </a:t>
            </a:r>
            <a:r>
              <a:rPr lang="es-CO" dirty="0" err="1"/>
              <a:t>clases.Estos</a:t>
            </a:r>
            <a:r>
              <a:rPr lang="es-CO" dirty="0"/>
              <a:t> modelos sirven como planos que nos dicen qué información tiene cada objeto de la aplicación.</a:t>
            </a:r>
          </a:p>
          <a:p>
            <a:pPr algn="just"/>
            <a:endParaRPr lang="es-CO" dirty="0"/>
          </a:p>
          <a:p>
            <a:pPr algn="just"/>
            <a:r>
              <a:rPr lang="es-CO" b="1" dirty="0"/>
              <a:t>¿Por qué hacerlo?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CFFF4BF-08D0-20B9-42D0-2BF1CF1EDC65}"/>
              </a:ext>
            </a:extLst>
          </p:cNvPr>
          <p:cNvSpPr txBox="1"/>
          <p:nvPr/>
        </p:nvSpPr>
        <p:spPr>
          <a:xfrm>
            <a:off x="1505235" y="3651253"/>
            <a:ext cx="9113338" cy="30777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es-CO" dirty="0"/>
              <a:t>Creamos dos modelos dentro de </a:t>
            </a:r>
            <a:r>
              <a:rPr lang="es-CO" dirty="0" err="1"/>
              <a:t>src</a:t>
            </a:r>
            <a:r>
              <a:rPr lang="es-CO" dirty="0"/>
              <a:t>/app/</a:t>
            </a:r>
            <a:r>
              <a:rPr lang="es-CO" dirty="0" err="1"/>
              <a:t>models</a:t>
            </a:r>
            <a:r>
              <a:rPr lang="es-CO" dirty="0"/>
              <a:t>/: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4FC7BDB-6FDC-C00B-E04C-C4ABBBE30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151" y="4399927"/>
            <a:ext cx="3450233" cy="9011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29E6F118-6E38-9B0C-4865-2AAAC3FF4317}"/>
              </a:ext>
            </a:extLst>
          </p:cNvPr>
          <p:cNvSpPr txBox="1"/>
          <p:nvPr/>
        </p:nvSpPr>
        <p:spPr>
          <a:xfrm>
            <a:off x="2098357" y="3994484"/>
            <a:ext cx="9113338" cy="307777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lvl="1"/>
            <a:r>
              <a:rPr lang="it-IT" b="1" dirty="0">
                <a:solidFill>
                  <a:srgbClr val="00B050"/>
                </a:solidFill>
              </a:rPr>
              <a:t>ionic g i Product </a:t>
            </a:r>
          </a:p>
          <a:p>
            <a:pPr lvl="1"/>
            <a:r>
              <a:rPr lang="it-IT" b="1" dirty="0">
                <a:solidFill>
                  <a:srgbClr val="00B050"/>
                </a:solidFill>
              </a:rPr>
              <a:t>ionic g i CartItem</a:t>
            </a:r>
            <a:endParaRPr lang="es-CO" b="1" dirty="0">
              <a:solidFill>
                <a:srgbClr val="00B050"/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233E3817-05B3-2809-C7F9-51C546823D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581"/>
          <a:stretch>
            <a:fillRect/>
          </a:stretch>
        </p:blipFill>
        <p:spPr>
          <a:xfrm>
            <a:off x="6485644" y="4337715"/>
            <a:ext cx="3281131" cy="9011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537F18D7-0EE8-3DB9-4EB2-B0037B978AD5}"/>
              </a:ext>
            </a:extLst>
          </p:cNvPr>
          <p:cNvSpPr txBox="1"/>
          <p:nvPr/>
        </p:nvSpPr>
        <p:spPr>
          <a:xfrm>
            <a:off x="6485644" y="5349005"/>
            <a:ext cx="41329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 err="1"/>
              <a:t>CartItem</a:t>
            </a:r>
            <a:r>
              <a:rPr lang="es-CO" dirty="0"/>
              <a:t> → Representa un producto en el carrito</a:t>
            </a:r>
          </a:p>
        </p:txBody>
      </p:sp>
    </p:spTree>
    <p:extLst>
      <p:ext uri="{BB962C8B-B14F-4D97-AF65-F5344CB8AC3E}">
        <p14:creationId xmlns:p14="http://schemas.microsoft.com/office/powerpoint/2010/main" val="1218627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9CDB7BA5-A7C7-43A8-F8BE-E26FD80C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>
            <a:extLst>
              <a:ext uri="{FF2B5EF4-FFF2-40B4-BE49-F238E27FC236}">
                <a16:creationId xmlns:a16="http://schemas.microsoft.com/office/drawing/2014/main" id="{C6184BE4-91A9-31ED-2E6C-F366F332C204}"/>
              </a:ext>
            </a:extLst>
          </p:cNvPr>
          <p:cNvSpPr txBox="1"/>
          <p:nvPr/>
        </p:nvSpPr>
        <p:spPr>
          <a:xfrm>
            <a:off x="439838" y="706056"/>
            <a:ext cx="4109013" cy="3662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buSzPts val="2800"/>
            </a:pPr>
            <a:r>
              <a:rPr lang="es-ES" sz="2000" b="1" dirty="0">
                <a:solidFill>
                  <a:schemeClr val="lt1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  <a:sym typeface="Calibri"/>
              </a:rPr>
              <a:t>Lógica de Negocio - Servicio del Carrito : </a:t>
            </a:r>
          </a:p>
          <a:p>
            <a:pPr lvl="0" algn="ctr">
              <a:buSzPts val="2800"/>
            </a:pPr>
            <a:endParaRPr lang="es-ES" sz="2000" b="1" dirty="0">
              <a:solidFill>
                <a:schemeClr val="lt1"/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latin typeface="Calibri"/>
              <a:ea typeface="Calibri"/>
              <a:cs typeface="Calibri"/>
              <a:sym typeface="Calibri"/>
            </a:endParaRPr>
          </a:p>
          <a:p>
            <a:pPr lvl="0" algn="just">
              <a:buSzPts val="2800"/>
            </a:pP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Angular/</a:t>
            </a:r>
            <a:r>
              <a:rPr lang="es-E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Ionic</a:t>
            </a: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los </a:t>
            </a:r>
            <a:r>
              <a:rPr lang="es-E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son clases especiales que centralizan la lógica de negocio y el manejo de datos.</a:t>
            </a:r>
          </a:p>
          <a:p>
            <a:pPr lvl="0" algn="just">
              <a:buSzPts val="2800"/>
            </a:pP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Carrito de Compras es un ejemplo perfecto para usar un </a:t>
            </a:r>
            <a:r>
              <a:rPr lang="es-E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singleton</a:t>
            </a: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porque necesitamos que el carrito se mantenga igual en toda la app (aunque cambiemos de página).</a:t>
            </a:r>
            <a:endParaRPr sz="180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 descr="Imagen que contiene calle, firmar, estacionamiento, computadora&#10;&#10;El contenido generado por IA puede ser incorrecto.">
            <a:extLst>
              <a:ext uri="{FF2B5EF4-FFF2-40B4-BE49-F238E27FC236}">
                <a16:creationId xmlns:a16="http://schemas.microsoft.com/office/drawing/2014/main" id="{37FC8292-1117-6F57-2FA5-02BAEBC80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733" y="7620"/>
            <a:ext cx="6781800" cy="654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531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3B689-0978-318C-FCE1-0F33BA2F0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76BC0E3-BB20-F914-F8D1-BD75426B6ACF}"/>
              </a:ext>
            </a:extLst>
          </p:cNvPr>
          <p:cNvSpPr txBox="1"/>
          <p:nvPr/>
        </p:nvSpPr>
        <p:spPr>
          <a:xfrm>
            <a:off x="1415158" y="967543"/>
            <a:ext cx="9724687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/>
              <a:t>Flujo: </a:t>
            </a:r>
          </a:p>
          <a:p>
            <a:pPr lvl="2"/>
            <a:r>
              <a:rPr lang="es-ES" sz="1600" dirty="0"/>
              <a:t>El carrito se guarda en memoria dentro de </a:t>
            </a:r>
            <a:r>
              <a:rPr lang="es-ES" sz="1600" b="1" dirty="0" err="1">
                <a:solidFill>
                  <a:srgbClr val="00B050"/>
                </a:solidFill>
              </a:rPr>
              <a:t>this.cart.BehaviorSubject</a:t>
            </a:r>
            <a:r>
              <a:rPr lang="es-ES" sz="1600" dirty="0"/>
              <a:t> permite compartir el carrito en tiempo real entre todas las páginas.</a:t>
            </a:r>
          </a:p>
          <a:p>
            <a:pPr lvl="2"/>
            <a:endParaRPr lang="es-ES" sz="1600" dirty="0"/>
          </a:p>
          <a:p>
            <a:pPr lvl="2"/>
            <a:r>
              <a:rPr lang="es-ES" sz="1600" dirty="0"/>
              <a:t>Los métodos principales son:</a:t>
            </a:r>
          </a:p>
          <a:p>
            <a:pPr marL="285750" lvl="2" indent="-285750">
              <a:buFont typeface="Courier New" panose="02070309020205020404" pitchFamily="49" charset="0"/>
              <a:buChar char="o"/>
            </a:pPr>
            <a:r>
              <a:rPr lang="es-ES" sz="1600" b="1" dirty="0" err="1">
                <a:solidFill>
                  <a:srgbClr val="00B050"/>
                </a:solidFill>
              </a:rPr>
              <a:t>addProduct</a:t>
            </a:r>
            <a:r>
              <a:rPr lang="es-ES" sz="1600" dirty="0"/>
              <a:t> → Agrega o aumenta la cantidad de un producto.</a:t>
            </a:r>
          </a:p>
          <a:p>
            <a:pPr marL="285750" lvl="2" indent="-285750">
              <a:buFont typeface="Courier New" panose="02070309020205020404" pitchFamily="49" charset="0"/>
              <a:buChar char="o"/>
            </a:pPr>
            <a:r>
              <a:rPr lang="es-ES" sz="1600" b="1" dirty="0" err="1">
                <a:solidFill>
                  <a:srgbClr val="00B050"/>
                </a:solidFill>
              </a:rPr>
              <a:t>removeProduct</a:t>
            </a:r>
            <a:r>
              <a:rPr lang="es-ES" sz="1600" dirty="0"/>
              <a:t> → Elimina un producto específico.</a:t>
            </a:r>
          </a:p>
          <a:p>
            <a:pPr marL="285750" lvl="2" indent="-285750">
              <a:buFont typeface="Courier New" panose="02070309020205020404" pitchFamily="49" charset="0"/>
              <a:buChar char="o"/>
            </a:pPr>
            <a:r>
              <a:rPr lang="es-ES" sz="1600" b="1" dirty="0" err="1">
                <a:solidFill>
                  <a:srgbClr val="00B050"/>
                </a:solidFill>
              </a:rPr>
              <a:t>clearCart</a:t>
            </a:r>
            <a:r>
              <a:rPr lang="es-ES" sz="1600" dirty="0"/>
              <a:t> → Vacía todo el carrito.</a:t>
            </a:r>
          </a:p>
          <a:p>
            <a:pPr marL="285750" lvl="2" indent="-285750">
              <a:buFont typeface="Courier New" panose="02070309020205020404" pitchFamily="49" charset="0"/>
              <a:buChar char="o"/>
            </a:pPr>
            <a:r>
              <a:rPr lang="es-ES" sz="1600" b="1" dirty="0" err="1">
                <a:solidFill>
                  <a:srgbClr val="00B050"/>
                </a:solidFill>
              </a:rPr>
              <a:t>getTotal</a:t>
            </a:r>
            <a:r>
              <a:rPr lang="es-ES" sz="1600" dirty="0"/>
              <a:t> → Calcula el total de la compra.</a:t>
            </a:r>
          </a:p>
          <a:p>
            <a:pPr lvl="2"/>
            <a:endParaRPr lang="es-ES" sz="1600" dirty="0"/>
          </a:p>
          <a:p>
            <a:pPr lvl="2"/>
            <a:r>
              <a:rPr lang="es-ES" sz="1600" dirty="0"/>
              <a:t>Las páginas solo necesitan suscribirse a </a:t>
            </a:r>
            <a:r>
              <a:rPr lang="es-ES" sz="1600" b="1" dirty="0" err="1">
                <a:solidFill>
                  <a:srgbClr val="00B050"/>
                </a:solidFill>
              </a:rPr>
              <a:t>cart</a:t>
            </a:r>
            <a:r>
              <a:rPr lang="es-ES" sz="1600" b="1" dirty="0">
                <a:solidFill>
                  <a:srgbClr val="00B050"/>
                </a:solidFill>
              </a:rPr>
              <a:t>$ </a:t>
            </a:r>
            <a:r>
              <a:rPr lang="es-ES" sz="1600" dirty="0"/>
              <a:t>para mostrar los productos actualizados.</a:t>
            </a:r>
            <a:br>
              <a:rPr lang="es-ES" sz="1600" dirty="0"/>
            </a:b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sz="1600" dirty="0"/>
          </a:p>
        </p:txBody>
      </p:sp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64E3F32F-29B6-AE4D-1059-5930D9810122}"/>
              </a:ext>
            </a:extLst>
          </p:cNvPr>
          <p:cNvSpPr txBox="1"/>
          <p:nvPr/>
        </p:nvSpPr>
        <p:spPr>
          <a:xfrm>
            <a:off x="2871494" y="505919"/>
            <a:ext cx="58683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dirty="0">
                <a:solidFill>
                  <a:schemeClr val="lt1"/>
                </a:solidFill>
                <a:effectLst>
                  <a:glow rad="101600">
                    <a:srgbClr val="92D050">
                      <a:alpha val="60000"/>
                    </a:srgbClr>
                  </a:glow>
                </a:effectLst>
                <a:latin typeface="Calibri"/>
                <a:ea typeface="Calibri"/>
                <a:cs typeface="Calibri"/>
                <a:sym typeface="Calibri"/>
              </a:rPr>
              <a:t>Lógica</a:t>
            </a:r>
            <a:r>
              <a:rPr lang="es-ES" sz="2400" i="0" u="none" strike="noStrike" dirty="0">
                <a:ln w="0"/>
                <a:solidFill>
                  <a:schemeClr val="accent1"/>
                </a:solidFill>
                <a:effectLst>
                  <a:glow rad="101600">
                    <a:srgbClr val="92D050">
                      <a:alpha val="60000"/>
                    </a:srgb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2400" b="1" dirty="0">
                <a:solidFill>
                  <a:schemeClr val="lt1"/>
                </a:solidFill>
                <a:effectLst>
                  <a:glow rad="101600">
                    <a:srgbClr val="92D050">
                      <a:alpha val="60000"/>
                    </a:srgbClr>
                  </a:glow>
                </a:effectLst>
                <a:latin typeface="Calibri"/>
                <a:ea typeface="Calibri"/>
                <a:cs typeface="Calibri"/>
                <a:sym typeface="Calibri"/>
              </a:rPr>
              <a:t>de</a:t>
            </a:r>
            <a:r>
              <a:rPr lang="es-ES" sz="2400" i="0" u="none" strike="noStrike" dirty="0">
                <a:ln w="0"/>
                <a:solidFill>
                  <a:schemeClr val="accent1"/>
                </a:solidFill>
                <a:effectLst>
                  <a:glow rad="101600">
                    <a:srgbClr val="92D050">
                      <a:alpha val="60000"/>
                    </a:srgb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2400" b="1" dirty="0">
                <a:solidFill>
                  <a:schemeClr val="lt1"/>
                </a:solidFill>
                <a:effectLst>
                  <a:glow rad="101600">
                    <a:srgbClr val="92D050">
                      <a:alpha val="60000"/>
                    </a:srgbClr>
                  </a:glow>
                </a:effectLst>
                <a:latin typeface="Calibri"/>
                <a:ea typeface="Calibri"/>
                <a:cs typeface="Calibri"/>
                <a:sym typeface="Calibri"/>
              </a:rPr>
              <a:t>Negocio - Servicio del Carrito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AE3EEE9-9F66-CA8A-2F33-DD871FD6B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268" y="3832852"/>
            <a:ext cx="2500452" cy="23270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AE7E034-C007-A8E7-4C6B-9A02B464A3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967"/>
          <a:stretch>
            <a:fillRect/>
          </a:stretch>
        </p:blipFill>
        <p:spPr>
          <a:xfrm>
            <a:off x="4863135" y="3887954"/>
            <a:ext cx="2945433" cy="20918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B000255-A458-35F7-3DC7-5ED5710394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189"/>
          <a:stretch>
            <a:fillRect/>
          </a:stretch>
        </p:blipFill>
        <p:spPr>
          <a:xfrm>
            <a:off x="8549983" y="3932642"/>
            <a:ext cx="2945433" cy="20025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7108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AD3E6-5858-1CBC-2144-C89F7F328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6597785B-87FF-D401-227D-C76952EA5076}"/>
              </a:ext>
            </a:extLst>
          </p:cNvPr>
          <p:cNvSpPr txBox="1"/>
          <p:nvPr/>
        </p:nvSpPr>
        <p:spPr>
          <a:xfrm>
            <a:off x="2618410" y="774488"/>
            <a:ext cx="58683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2400"/>
              <a:buNone/>
              <a:defRPr sz="2400" b="1">
                <a:solidFill>
                  <a:schemeClr val="lt1"/>
                </a:solidFill>
                <a:effectLst>
                  <a:glow rad="101600">
                    <a:srgbClr val="92D050">
                      <a:alpha val="60000"/>
                    </a:srgbClr>
                  </a:glow>
                </a:effectLst>
                <a:latin typeface="Calibri"/>
                <a:ea typeface="Calibri"/>
                <a:cs typeface="Calibri"/>
              </a:defRPr>
            </a:lvl1pPr>
          </a:lstStyle>
          <a:p>
            <a:r>
              <a:rPr lang="es-ES" dirty="0">
                <a:sym typeface="Calibri"/>
              </a:rPr>
              <a:t>Página de Productos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1D33A69-0B43-4222-998A-DD9F5B8A7129}"/>
              </a:ext>
            </a:extLst>
          </p:cNvPr>
          <p:cNvSpPr txBox="1"/>
          <p:nvPr/>
        </p:nvSpPr>
        <p:spPr>
          <a:xfrm>
            <a:off x="1879769" y="1580630"/>
            <a:ext cx="87052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tx1"/>
                </a:solidFill>
              </a:rPr>
              <a:t>Creamos la página con el comando:</a:t>
            </a:r>
          </a:p>
          <a:p>
            <a:r>
              <a:rPr lang="es-ES" sz="1600" dirty="0">
                <a:solidFill>
                  <a:schemeClr val="tx1"/>
                </a:solidFill>
              </a:rPr>
              <a:t>	</a:t>
            </a:r>
            <a:r>
              <a:rPr lang="es-ES" sz="1600" b="1" dirty="0" err="1">
                <a:solidFill>
                  <a:srgbClr val="00B050"/>
                </a:solidFill>
              </a:rPr>
              <a:t>ionic</a:t>
            </a:r>
            <a:r>
              <a:rPr lang="es-ES" sz="1600" b="1" dirty="0">
                <a:solidFill>
                  <a:srgbClr val="00B050"/>
                </a:solidFill>
              </a:rPr>
              <a:t> g page </a:t>
            </a:r>
            <a:r>
              <a:rPr lang="es-ES" sz="1600" b="1" dirty="0" err="1">
                <a:solidFill>
                  <a:srgbClr val="00B050"/>
                </a:solidFill>
              </a:rPr>
              <a:t>products</a:t>
            </a:r>
            <a:endParaRPr lang="es-ES" sz="1600" b="1" dirty="0">
              <a:solidFill>
                <a:srgbClr val="00B050"/>
              </a:solidFill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E8BC766B-FDD9-892C-C5F9-2A129FA1CE91}"/>
              </a:ext>
            </a:extLst>
          </p:cNvPr>
          <p:cNvSpPr/>
          <p:nvPr/>
        </p:nvSpPr>
        <p:spPr>
          <a:xfrm>
            <a:off x="5887873" y="1496707"/>
            <a:ext cx="4099107" cy="80719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Esto genera una carpeta con los archivos necesarios (</a:t>
            </a:r>
            <a:r>
              <a:rPr lang="es-ES" dirty="0" err="1"/>
              <a:t>products.page.ts</a:t>
            </a:r>
            <a:r>
              <a:rPr lang="es-ES" dirty="0"/>
              <a:t>, products.page.html, </a:t>
            </a:r>
            <a:r>
              <a:rPr lang="es-ES" dirty="0" err="1"/>
              <a:t>products.page.scss</a:t>
            </a:r>
            <a:r>
              <a:rPr lang="es-ES" dirty="0"/>
              <a:t>).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9D71E16-779B-9B9F-20E3-3D9D131EC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992" y="2716262"/>
            <a:ext cx="3154528" cy="33672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8AE0144-9748-FABC-7DE7-3C58F6E17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997" y="2716261"/>
            <a:ext cx="2921964" cy="33672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3B131AF9-9944-28C4-3D54-BA57FC87CD4F}"/>
              </a:ext>
            </a:extLst>
          </p:cNvPr>
          <p:cNvSpPr txBox="1"/>
          <p:nvPr/>
        </p:nvSpPr>
        <p:spPr>
          <a:xfrm>
            <a:off x="3056576" y="6083513"/>
            <a:ext cx="1850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products.page.html</a:t>
            </a:r>
            <a:endParaRPr lang="es-CO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A22F59C-4C79-0858-57FD-515AAEFDCE86}"/>
              </a:ext>
            </a:extLst>
          </p:cNvPr>
          <p:cNvSpPr txBox="1"/>
          <p:nvPr/>
        </p:nvSpPr>
        <p:spPr>
          <a:xfrm>
            <a:off x="7192980" y="6083512"/>
            <a:ext cx="1850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products.page.ts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80729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52D6C-0B2C-1D3C-529B-313E6C8EB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ECB64C9-0161-9857-0361-1CB4466DAF18}"/>
              </a:ext>
            </a:extLst>
          </p:cNvPr>
          <p:cNvSpPr txBox="1"/>
          <p:nvPr/>
        </p:nvSpPr>
        <p:spPr>
          <a:xfrm>
            <a:off x="1238290" y="1275712"/>
            <a:ext cx="4754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Creamos la página del carrito con el comando:</a:t>
            </a:r>
          </a:p>
          <a:p>
            <a:r>
              <a:rPr lang="es-ES" sz="1600" b="1" dirty="0">
                <a:solidFill>
                  <a:srgbClr val="00B050"/>
                </a:solidFill>
              </a:rPr>
              <a:t>	</a:t>
            </a:r>
            <a:r>
              <a:rPr lang="es-ES" sz="1600" b="1" dirty="0" err="1">
                <a:solidFill>
                  <a:srgbClr val="00B050"/>
                </a:solidFill>
              </a:rPr>
              <a:t>ionic</a:t>
            </a:r>
            <a:r>
              <a:rPr lang="es-ES" sz="1600" b="1" dirty="0">
                <a:solidFill>
                  <a:srgbClr val="00B050"/>
                </a:solidFill>
              </a:rPr>
              <a:t> g page </a:t>
            </a:r>
            <a:r>
              <a:rPr lang="es-ES" sz="1600" b="1" dirty="0" err="1">
                <a:solidFill>
                  <a:srgbClr val="00B050"/>
                </a:solidFill>
              </a:rPr>
              <a:t>cart</a:t>
            </a:r>
            <a:endParaRPr lang="es-ES" sz="1600" b="1" dirty="0">
              <a:solidFill>
                <a:srgbClr val="00B050"/>
              </a:solidFill>
            </a:endParaRPr>
          </a:p>
        </p:txBody>
      </p:sp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3F7DF98A-1F02-CF5E-6A70-63F8CB6FD2BB}"/>
              </a:ext>
            </a:extLst>
          </p:cNvPr>
          <p:cNvSpPr txBox="1"/>
          <p:nvPr/>
        </p:nvSpPr>
        <p:spPr>
          <a:xfrm>
            <a:off x="2665427" y="571012"/>
            <a:ext cx="58683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SzPts val="2400"/>
              <a:buNone/>
              <a:defRPr sz="2400" b="1">
                <a:solidFill>
                  <a:schemeClr val="lt1"/>
                </a:solidFill>
                <a:effectLst>
                  <a:glow rad="101600">
                    <a:srgbClr val="92D050">
                      <a:alpha val="60000"/>
                    </a:srgbClr>
                  </a:glow>
                </a:effectLst>
                <a:latin typeface="Calibri"/>
                <a:ea typeface="Calibri"/>
                <a:cs typeface="Calibri"/>
              </a:defRPr>
            </a:lvl1pPr>
          </a:lstStyle>
          <a:p>
            <a:r>
              <a:rPr lang="es-ES" dirty="0">
                <a:sym typeface="Calibri"/>
              </a:rPr>
              <a:t>Página del Carrito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D7C039B-3359-BD8A-CDEB-1CAE841FB621}"/>
              </a:ext>
            </a:extLst>
          </p:cNvPr>
          <p:cNvSpPr/>
          <p:nvPr/>
        </p:nvSpPr>
        <p:spPr>
          <a:xfrm>
            <a:off x="6720219" y="1286382"/>
            <a:ext cx="2763520" cy="121918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Esta página mostrará todos los productos agregados, la cantidad de cada uno, el total y un botón de </a:t>
            </a:r>
            <a:r>
              <a:rPr lang="es-ES" dirty="0" err="1"/>
              <a:t>Checkout</a:t>
            </a:r>
            <a:r>
              <a:rPr lang="es-ES" dirty="0"/>
              <a:t>.</a:t>
            </a:r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DD33F8C-00CB-FED1-EBF5-087575F37F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12" r="6612"/>
          <a:stretch/>
        </p:blipFill>
        <p:spPr>
          <a:xfrm>
            <a:off x="6640997" y="2716261"/>
            <a:ext cx="2921964" cy="33672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E882C7B-8B76-A9E4-5735-C52BF48D44AC}"/>
              </a:ext>
            </a:extLst>
          </p:cNvPr>
          <p:cNvSpPr txBox="1"/>
          <p:nvPr/>
        </p:nvSpPr>
        <p:spPr>
          <a:xfrm>
            <a:off x="3056576" y="6083513"/>
            <a:ext cx="1850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products.page.html</a:t>
            </a:r>
            <a:endParaRPr lang="es-CO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E7608DF-F204-1DE9-5445-469B9246A9F7}"/>
              </a:ext>
            </a:extLst>
          </p:cNvPr>
          <p:cNvSpPr txBox="1"/>
          <p:nvPr/>
        </p:nvSpPr>
        <p:spPr>
          <a:xfrm>
            <a:off x="7192980" y="6083512"/>
            <a:ext cx="1850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products.page.ts</a:t>
            </a:r>
            <a:endParaRPr lang="es-CO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A2A97C1-0C03-075B-15E3-7997FA839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419" y="2178010"/>
            <a:ext cx="2488452" cy="38552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08436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8150-9FD5-7E63-1E07-57E297769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B7B4FE08-8A09-C4F0-8DC4-1A298685A580}"/>
              </a:ext>
            </a:extLst>
          </p:cNvPr>
          <p:cNvSpPr txBox="1"/>
          <p:nvPr/>
        </p:nvSpPr>
        <p:spPr>
          <a:xfrm>
            <a:off x="3162610" y="751162"/>
            <a:ext cx="58683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SzPts val="2400"/>
              <a:buNone/>
              <a:defRPr sz="2400" b="1">
                <a:solidFill>
                  <a:schemeClr val="lt1"/>
                </a:solidFill>
                <a:effectLst>
                  <a:glow rad="101600">
                    <a:srgbClr val="92D050">
                      <a:alpha val="60000"/>
                    </a:srgbClr>
                  </a:glow>
                </a:effectLst>
                <a:latin typeface="Calibri"/>
                <a:ea typeface="Calibri"/>
                <a:cs typeface="Calibri"/>
              </a:defRPr>
            </a:lvl1pPr>
          </a:lstStyle>
          <a:p>
            <a:r>
              <a:rPr lang="es-ES" dirty="0"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  <a:sym typeface="Calibri"/>
              </a:rPr>
              <a:t>Página del </a:t>
            </a:r>
            <a:r>
              <a:rPr lang="es-ES" dirty="0" err="1"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  <a:sym typeface="Calibri"/>
              </a:rPr>
              <a:t>Checkout</a:t>
            </a:r>
            <a:endParaRPr lang="es-ES" dirty="0"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  <a:sym typeface="Calibri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04D5D1A2-548E-4DAF-10AF-94F42F153914}"/>
              </a:ext>
            </a:extLst>
          </p:cNvPr>
          <p:cNvSpPr/>
          <p:nvPr/>
        </p:nvSpPr>
        <p:spPr>
          <a:xfrm>
            <a:off x="1487808" y="1306216"/>
            <a:ext cx="9217971" cy="68493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La página de </a:t>
            </a:r>
            <a:r>
              <a:rPr lang="es-ES" dirty="0" err="1"/>
              <a:t>Checkout</a:t>
            </a:r>
            <a:r>
              <a:rPr lang="es-ES" dirty="0"/>
              <a:t> muestra el resumen del pedido con todos los productos, sus cantidades y precios, el total y un botón de “Finalizar compra” (simulado).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07E2222-CB42-1EF4-D58A-0D3BE7C11826}"/>
              </a:ext>
            </a:extLst>
          </p:cNvPr>
          <p:cNvSpPr txBox="1"/>
          <p:nvPr/>
        </p:nvSpPr>
        <p:spPr>
          <a:xfrm>
            <a:off x="3056576" y="6083513"/>
            <a:ext cx="1850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products.page.html</a:t>
            </a:r>
            <a:endParaRPr lang="es-CO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02237F3-0E6A-B34B-D7AD-A8C2481089A8}"/>
              </a:ext>
            </a:extLst>
          </p:cNvPr>
          <p:cNvSpPr txBox="1"/>
          <p:nvPr/>
        </p:nvSpPr>
        <p:spPr>
          <a:xfrm>
            <a:off x="7192980" y="6083512"/>
            <a:ext cx="1850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products.page.ts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1325B54-641D-F79A-7FF8-A64FA07BA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345" y="2439907"/>
            <a:ext cx="3099911" cy="35479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7693CFF-8AC6-5C5A-0A2A-C54C7BFB5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626" y="2439907"/>
            <a:ext cx="2604644" cy="35479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Bocadillo: rectángulo con esquinas redondeadas 12">
            <a:extLst>
              <a:ext uri="{FF2B5EF4-FFF2-40B4-BE49-F238E27FC236}">
                <a16:creationId xmlns:a16="http://schemas.microsoft.com/office/drawing/2014/main" id="{F7D9B100-59EA-B97B-97FE-81ACF8C5ECE3}"/>
              </a:ext>
            </a:extLst>
          </p:cNvPr>
          <p:cNvSpPr/>
          <p:nvPr/>
        </p:nvSpPr>
        <p:spPr>
          <a:xfrm>
            <a:off x="9241916" y="2148734"/>
            <a:ext cx="2838324" cy="1996546"/>
          </a:xfrm>
          <a:prstGeom prst="wedgeRoundRectCallout">
            <a:avLst>
              <a:gd name="adj1" fmla="val -34695"/>
              <a:gd name="adj2" fmla="val 61164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100" b="1" dirty="0" err="1">
                <a:solidFill>
                  <a:schemeClr val="bg2"/>
                </a:solidFill>
              </a:rPr>
              <a:t>cartItems</a:t>
            </a:r>
            <a:r>
              <a:rPr lang="es-ES" sz="1100" dirty="0">
                <a:solidFill>
                  <a:schemeClr val="bg2"/>
                </a:solidFill>
              </a:rPr>
              <a:t> → guarda los productos actuales del carrito.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100" b="1" dirty="0">
                <a:solidFill>
                  <a:schemeClr val="bg2"/>
                </a:solidFill>
              </a:rPr>
              <a:t>total</a:t>
            </a:r>
            <a:r>
              <a:rPr lang="es-ES" sz="1100" dirty="0">
                <a:solidFill>
                  <a:schemeClr val="bg2"/>
                </a:solidFill>
              </a:rPr>
              <a:t> → guarda el monto acumulado.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100" b="1" dirty="0" err="1">
                <a:solidFill>
                  <a:schemeClr val="bg2"/>
                </a:solidFill>
              </a:rPr>
              <a:t>ngOnInit</a:t>
            </a:r>
            <a:r>
              <a:rPr lang="es-ES" sz="1100" b="1" dirty="0">
                <a:solidFill>
                  <a:schemeClr val="bg2"/>
                </a:solidFill>
              </a:rPr>
              <a:t>() </a:t>
            </a:r>
            <a:r>
              <a:rPr lang="es-ES" sz="1100" dirty="0">
                <a:solidFill>
                  <a:schemeClr val="bg2"/>
                </a:solidFill>
              </a:rPr>
              <a:t>→ nos suscribimos al </a:t>
            </a:r>
            <a:r>
              <a:rPr lang="es-ES" sz="1100" dirty="0" err="1">
                <a:solidFill>
                  <a:schemeClr val="bg2"/>
                </a:solidFill>
              </a:rPr>
              <a:t>cart</a:t>
            </a:r>
            <a:r>
              <a:rPr lang="es-ES" sz="1100" dirty="0">
                <a:solidFill>
                  <a:schemeClr val="bg2"/>
                </a:solidFill>
              </a:rPr>
              <a:t>$ del </a:t>
            </a:r>
            <a:r>
              <a:rPr lang="es-ES" sz="1100" dirty="0" err="1">
                <a:solidFill>
                  <a:schemeClr val="bg2"/>
                </a:solidFill>
              </a:rPr>
              <a:t>CartService</a:t>
            </a:r>
            <a:r>
              <a:rPr lang="es-ES" sz="1100" dirty="0">
                <a:solidFill>
                  <a:schemeClr val="bg2"/>
                </a:solidFill>
              </a:rPr>
              <a:t> para que cada vez que cambie el carrito, se actualice el resumen.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s-ES" sz="1100" b="1" dirty="0" err="1">
                <a:solidFill>
                  <a:schemeClr val="bg2"/>
                </a:solidFill>
              </a:rPr>
              <a:t>finishPurchase</a:t>
            </a:r>
            <a:r>
              <a:rPr lang="es-ES" sz="1100" b="1" dirty="0">
                <a:solidFill>
                  <a:schemeClr val="bg2"/>
                </a:solidFill>
              </a:rPr>
              <a:t>() </a:t>
            </a:r>
            <a:r>
              <a:rPr lang="es-ES" sz="1100" dirty="0">
                <a:solidFill>
                  <a:schemeClr val="bg2"/>
                </a:solidFill>
              </a:rPr>
              <a:t>→ muestra una alerta de confirmación y vacía el carrito con </a:t>
            </a:r>
            <a:r>
              <a:rPr lang="es-ES" sz="1100" dirty="0" err="1">
                <a:solidFill>
                  <a:schemeClr val="bg2"/>
                </a:solidFill>
              </a:rPr>
              <a:t>clearCart</a:t>
            </a:r>
            <a:r>
              <a:rPr lang="es-ES" sz="1100" dirty="0">
                <a:solidFill>
                  <a:schemeClr val="bg2"/>
                </a:solidFill>
              </a:rPr>
              <a:t>().</a:t>
            </a:r>
            <a:endParaRPr lang="es-CO" sz="11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18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1C32F85F-E362-ED0B-306E-2B66BEE75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>
            <a:extLst>
              <a:ext uri="{FF2B5EF4-FFF2-40B4-BE49-F238E27FC236}">
                <a16:creationId xmlns:a16="http://schemas.microsoft.com/office/drawing/2014/main" id="{91E48A64-EA8A-5CC0-CB16-D9D9EFD93E40}"/>
              </a:ext>
            </a:extLst>
          </p:cNvPr>
          <p:cNvSpPr txBox="1"/>
          <p:nvPr/>
        </p:nvSpPr>
        <p:spPr>
          <a:xfrm>
            <a:off x="673518" y="482536"/>
            <a:ext cx="4109013" cy="252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buSzPts val="2800"/>
            </a:pPr>
            <a:r>
              <a:rPr lang="es-ES" sz="2000" b="1" dirty="0">
                <a:solidFill>
                  <a:schemeClr val="lt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  <a:sym typeface="Calibri"/>
              </a:rPr>
              <a:t>Configuración de </a:t>
            </a:r>
            <a:r>
              <a:rPr lang="es-ES" sz="2000" b="1" dirty="0" err="1">
                <a:solidFill>
                  <a:schemeClr val="lt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  <a:sym typeface="Calibri"/>
              </a:rPr>
              <a:t>Tabs</a:t>
            </a:r>
            <a:r>
              <a:rPr lang="es-ES" sz="2000" b="1" dirty="0">
                <a:solidFill>
                  <a:schemeClr val="lt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  <a:sym typeface="Calibri"/>
              </a:rPr>
              <a:t> (Navegación)</a:t>
            </a:r>
          </a:p>
          <a:p>
            <a:pPr lvl="0" algn="ctr">
              <a:buSzPts val="2800"/>
            </a:pPr>
            <a:endParaRPr lang="es-ES" sz="2000" b="1" dirty="0">
              <a:solidFill>
                <a:schemeClr val="lt1"/>
              </a:solidFill>
              <a:effectLst>
                <a:glow rad="101600">
                  <a:schemeClr val="accent6">
                    <a:satMod val="175000"/>
                    <a:alpha val="40000"/>
                  </a:schemeClr>
                </a:glow>
              </a:effectLst>
              <a:latin typeface="Calibri"/>
              <a:ea typeface="Calibri"/>
              <a:cs typeface="Calibri"/>
              <a:sym typeface="Calibri"/>
            </a:endParaRPr>
          </a:p>
          <a:p>
            <a:pPr lvl="0" algn="just">
              <a:buSzPts val="2800"/>
            </a:pP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</a:t>
            </a:r>
            <a:r>
              <a:rPr lang="es-E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Ionic</a:t>
            </a: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los </a:t>
            </a:r>
            <a:r>
              <a:rPr lang="es-E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Tabs</a:t>
            </a: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son una forma común de organizar las vistas en una aplicación </a:t>
            </a:r>
            <a:r>
              <a:rPr lang="es-ES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móvil.Cada</a:t>
            </a:r>
            <a:r>
              <a:rPr lang="es-E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pestaña corresponde a una página y la barra inferior permite moverse entre ellas fácilmente.</a:t>
            </a:r>
            <a:endParaRPr sz="180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 descr="Imagen que contiene calle, firmar, estacionamiento, computadora&#10;&#10;El contenido generado por IA puede ser incorrecto.">
            <a:extLst>
              <a:ext uri="{FF2B5EF4-FFF2-40B4-BE49-F238E27FC236}">
                <a16:creationId xmlns:a16="http://schemas.microsoft.com/office/drawing/2014/main" id="{8CCCA655-0226-CD87-3E53-B9F15743C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733" y="156633"/>
            <a:ext cx="6781800" cy="654473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E64508C-74E0-EB5D-74DF-F1BF0A35B660}"/>
              </a:ext>
            </a:extLst>
          </p:cNvPr>
          <p:cNvSpPr txBox="1"/>
          <p:nvPr/>
        </p:nvSpPr>
        <p:spPr>
          <a:xfrm>
            <a:off x="673518" y="3077383"/>
            <a:ext cx="35763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En nuestro caso:</a:t>
            </a:r>
          </a:p>
          <a:p>
            <a:r>
              <a:rPr lang="es-CO" dirty="0">
                <a:solidFill>
                  <a:schemeClr val="bg1"/>
                </a:solidFill>
              </a:rPr>
              <a:t>	</a:t>
            </a:r>
            <a:r>
              <a:rPr lang="es-CO" dirty="0" err="1">
                <a:solidFill>
                  <a:schemeClr val="bg1"/>
                </a:solidFill>
              </a:rPr>
              <a:t>Tab</a:t>
            </a:r>
            <a:r>
              <a:rPr lang="es-CO" dirty="0">
                <a:solidFill>
                  <a:schemeClr val="bg1"/>
                </a:solidFill>
              </a:rPr>
              <a:t> 1 → Productos</a:t>
            </a:r>
          </a:p>
          <a:p>
            <a:r>
              <a:rPr lang="es-CO" dirty="0">
                <a:solidFill>
                  <a:schemeClr val="bg1"/>
                </a:solidFill>
              </a:rPr>
              <a:t>	</a:t>
            </a:r>
            <a:r>
              <a:rPr lang="es-CO" dirty="0" err="1">
                <a:solidFill>
                  <a:schemeClr val="bg1"/>
                </a:solidFill>
              </a:rPr>
              <a:t>Tab</a:t>
            </a:r>
            <a:r>
              <a:rPr lang="es-CO" dirty="0">
                <a:solidFill>
                  <a:schemeClr val="bg1"/>
                </a:solidFill>
              </a:rPr>
              <a:t> 2 → Carrito</a:t>
            </a:r>
          </a:p>
          <a:p>
            <a:r>
              <a:rPr lang="es-CO" dirty="0">
                <a:solidFill>
                  <a:schemeClr val="bg1"/>
                </a:solidFill>
              </a:rPr>
              <a:t>	</a:t>
            </a:r>
            <a:r>
              <a:rPr lang="es-CO" dirty="0" err="1">
                <a:solidFill>
                  <a:schemeClr val="bg1"/>
                </a:solidFill>
              </a:rPr>
              <a:t>Tab</a:t>
            </a:r>
            <a:r>
              <a:rPr lang="es-CO" dirty="0">
                <a:solidFill>
                  <a:schemeClr val="bg1"/>
                </a:solidFill>
              </a:rPr>
              <a:t> 3 → </a:t>
            </a:r>
            <a:r>
              <a:rPr lang="es-CO" dirty="0" err="1">
                <a:solidFill>
                  <a:schemeClr val="bg1"/>
                </a:solidFill>
              </a:rPr>
              <a:t>Checkout</a:t>
            </a:r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851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F66A8-F640-F512-8354-D4E223127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F6E079FB-24E7-5BE5-2EA8-25C714215D7F}"/>
              </a:ext>
            </a:extLst>
          </p:cNvPr>
          <p:cNvSpPr txBox="1"/>
          <p:nvPr/>
        </p:nvSpPr>
        <p:spPr>
          <a:xfrm>
            <a:off x="2856119" y="570115"/>
            <a:ext cx="586836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800"/>
            </a:pPr>
            <a:r>
              <a:rPr lang="es-ES" sz="2000" b="1" dirty="0">
                <a:solidFill>
                  <a:schemeClr val="lt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  <a:sym typeface="Calibri"/>
              </a:rPr>
              <a:t>Configuración de </a:t>
            </a:r>
            <a:r>
              <a:rPr lang="es-ES" sz="2000" b="1" dirty="0" err="1">
                <a:solidFill>
                  <a:schemeClr val="lt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  <a:sym typeface="Calibri"/>
              </a:rPr>
              <a:t>Tabs</a:t>
            </a:r>
            <a:r>
              <a:rPr lang="es-ES" sz="2000" b="1" dirty="0">
                <a:solidFill>
                  <a:schemeClr val="lt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  <a:sym typeface="Calibri"/>
              </a:rPr>
              <a:t> (Navegación)</a:t>
            </a:r>
            <a:endParaRPr lang="es-ES" sz="2800" b="1" dirty="0">
              <a:solidFill>
                <a:schemeClr val="lt1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A8766B0-D456-9723-C72D-1D70494FA920}"/>
              </a:ext>
            </a:extLst>
          </p:cNvPr>
          <p:cNvSpPr txBox="1"/>
          <p:nvPr/>
        </p:nvSpPr>
        <p:spPr>
          <a:xfrm>
            <a:off x="5451676" y="1655351"/>
            <a:ext cx="526648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chemeClr val="tx1"/>
                </a:solidFill>
              </a:rPr>
              <a:t>Explicación de las rutas</a:t>
            </a:r>
          </a:p>
          <a:p>
            <a:endParaRPr lang="es-ES" sz="1600" b="1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1600" b="1" dirty="0" err="1">
                <a:solidFill>
                  <a:schemeClr val="tx1"/>
                </a:solidFill>
              </a:rPr>
              <a:t>path</a:t>
            </a:r>
            <a:r>
              <a:rPr lang="es-ES" sz="1600" b="1" dirty="0">
                <a:solidFill>
                  <a:schemeClr val="tx1"/>
                </a:solidFill>
              </a:rPr>
              <a:t>: </a:t>
            </a:r>
            <a:r>
              <a:rPr lang="es-ES" sz="1600" dirty="0">
                <a:solidFill>
                  <a:schemeClr val="tx1"/>
                </a:solidFill>
              </a:rPr>
              <a:t>'</a:t>
            </a:r>
            <a:r>
              <a:rPr lang="es-ES" sz="1600" dirty="0" err="1">
                <a:solidFill>
                  <a:schemeClr val="tx1"/>
                </a:solidFill>
              </a:rPr>
              <a:t>tabs</a:t>
            </a:r>
            <a:r>
              <a:rPr lang="es-ES" sz="1600" dirty="0">
                <a:solidFill>
                  <a:schemeClr val="tx1"/>
                </a:solidFill>
              </a:rPr>
              <a:t>' → contenedor principal de las pestañas.</a:t>
            </a:r>
          </a:p>
          <a:p>
            <a:endParaRPr lang="es-ES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1600" b="1" dirty="0" err="1">
                <a:solidFill>
                  <a:schemeClr val="tx1"/>
                </a:solidFill>
              </a:rPr>
              <a:t>children</a:t>
            </a:r>
            <a:r>
              <a:rPr lang="es-ES" sz="1600" b="1" dirty="0">
                <a:solidFill>
                  <a:schemeClr val="tx1"/>
                </a:solidFill>
              </a:rPr>
              <a:t>: </a:t>
            </a:r>
            <a:r>
              <a:rPr lang="es-ES" sz="1600" dirty="0">
                <a:solidFill>
                  <a:schemeClr val="tx1"/>
                </a:solidFill>
              </a:rPr>
              <a:t>[] → aquí definimos las rutas internas de cada pestaña.</a:t>
            </a:r>
          </a:p>
          <a:p>
            <a:endParaRPr lang="es-ES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1600" b="1" dirty="0" err="1">
                <a:solidFill>
                  <a:schemeClr val="tx1"/>
                </a:solidFill>
              </a:rPr>
              <a:t>loadComponent</a:t>
            </a:r>
            <a:r>
              <a:rPr lang="es-ES" sz="1600" b="1" dirty="0">
                <a:solidFill>
                  <a:schemeClr val="tx1"/>
                </a:solidFill>
              </a:rPr>
              <a:t>: </a:t>
            </a:r>
            <a:r>
              <a:rPr lang="es-ES" sz="1600" dirty="0">
                <a:solidFill>
                  <a:schemeClr val="tx1"/>
                </a:solidFill>
              </a:rPr>
              <a:t>() =&gt; </a:t>
            </a:r>
            <a:r>
              <a:rPr lang="es-ES" sz="1600" dirty="0" err="1">
                <a:solidFill>
                  <a:schemeClr val="tx1"/>
                </a:solidFill>
              </a:rPr>
              <a:t>import</a:t>
            </a:r>
            <a:r>
              <a:rPr lang="es-ES" sz="1600" dirty="0">
                <a:solidFill>
                  <a:schemeClr val="tx1"/>
                </a:solidFill>
              </a:rPr>
              <a:t>(...).</a:t>
            </a:r>
            <a:r>
              <a:rPr lang="es-ES" sz="1600" dirty="0" err="1">
                <a:solidFill>
                  <a:schemeClr val="tx1"/>
                </a:solidFill>
              </a:rPr>
              <a:t>then</a:t>
            </a:r>
            <a:r>
              <a:rPr lang="es-ES" sz="1600" dirty="0">
                <a:solidFill>
                  <a:schemeClr val="tx1"/>
                </a:solidFill>
              </a:rPr>
              <a:t>(...) → </a:t>
            </a:r>
            <a:r>
              <a:rPr lang="es-ES" sz="1600" dirty="0" err="1">
                <a:solidFill>
                  <a:schemeClr val="tx1"/>
                </a:solidFill>
              </a:rPr>
              <a:t>lazy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S" sz="1600" dirty="0" err="1">
                <a:solidFill>
                  <a:schemeClr val="tx1"/>
                </a:solidFill>
              </a:rPr>
              <a:t>loading</a:t>
            </a:r>
            <a:r>
              <a:rPr lang="es-ES" sz="1600" dirty="0">
                <a:solidFill>
                  <a:schemeClr val="tx1"/>
                </a:solidFill>
              </a:rPr>
              <a:t>: carga el componente solo cuando lo necesitamos.</a:t>
            </a:r>
          </a:p>
          <a:p>
            <a:endParaRPr lang="es-ES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1600" b="1" dirty="0" err="1">
                <a:solidFill>
                  <a:schemeClr val="tx1"/>
                </a:solidFill>
              </a:rPr>
              <a:t>redirectTo</a:t>
            </a:r>
            <a:r>
              <a:rPr lang="es-ES" sz="1600" b="1" dirty="0">
                <a:solidFill>
                  <a:schemeClr val="tx1"/>
                </a:solidFill>
              </a:rPr>
              <a:t>: </a:t>
            </a:r>
            <a:r>
              <a:rPr lang="es-ES" sz="1600" dirty="0">
                <a:solidFill>
                  <a:schemeClr val="tx1"/>
                </a:solidFill>
              </a:rPr>
              <a:t>'/</a:t>
            </a:r>
            <a:r>
              <a:rPr lang="es-ES" sz="1600" dirty="0" err="1">
                <a:solidFill>
                  <a:schemeClr val="tx1"/>
                </a:solidFill>
              </a:rPr>
              <a:t>tabs</a:t>
            </a:r>
            <a:r>
              <a:rPr lang="es-ES" sz="1600" dirty="0">
                <a:solidFill>
                  <a:schemeClr val="tx1"/>
                </a:solidFill>
              </a:rPr>
              <a:t>/tab1' → si no se indica pestaña, abre la de Productos por defecto.</a:t>
            </a:r>
            <a:endParaRPr lang="es-CO" sz="1600" dirty="0">
              <a:solidFill>
                <a:schemeClr val="tx1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AA7D250-D3EC-A0DA-6E37-B2EE89366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330" y="1291751"/>
            <a:ext cx="3547496" cy="464623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612705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8AA24-6B55-AEB5-0F1E-33CEA8292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A2115B0D-A4CE-0F01-365E-F50BF9EAD00B}"/>
              </a:ext>
            </a:extLst>
          </p:cNvPr>
          <p:cNvSpPr txBox="1"/>
          <p:nvPr/>
        </p:nvSpPr>
        <p:spPr>
          <a:xfrm>
            <a:off x="2856119" y="570115"/>
            <a:ext cx="58683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buSzPts val="2800"/>
              <a:defRPr sz="2000" b="1">
                <a:solidFill>
                  <a:schemeClr val="lt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</a:defRPr>
            </a:lvl1pPr>
          </a:lstStyle>
          <a:p>
            <a:r>
              <a:rPr lang="es-ES" dirty="0">
                <a:sym typeface="Calibri"/>
              </a:rPr>
              <a:t>Configuración de </a:t>
            </a:r>
            <a:r>
              <a:rPr lang="es-ES" dirty="0" err="1">
                <a:sym typeface="Calibri"/>
              </a:rPr>
              <a:t>Tabs</a:t>
            </a:r>
            <a:r>
              <a:rPr lang="es-ES" dirty="0">
                <a:sym typeface="Calibri"/>
              </a:rPr>
              <a:t> (Navegación)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7AD8E20-E378-7097-4CB7-D6401A596B5C}"/>
              </a:ext>
            </a:extLst>
          </p:cNvPr>
          <p:cNvSpPr txBox="1"/>
          <p:nvPr/>
        </p:nvSpPr>
        <p:spPr>
          <a:xfrm>
            <a:off x="5603585" y="1585903"/>
            <a:ext cx="574104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chemeClr val="tx1"/>
                </a:solidFill>
              </a:rPr>
              <a:t>Explicación del HTML</a:t>
            </a:r>
          </a:p>
          <a:p>
            <a:endParaRPr lang="es-ES" sz="1600" b="1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chemeClr val="tx1"/>
                </a:solidFill>
              </a:rPr>
              <a:t>&lt;ion-</a:t>
            </a:r>
            <a:r>
              <a:rPr lang="es-ES" sz="1600" dirty="0" err="1">
                <a:solidFill>
                  <a:schemeClr val="tx1"/>
                </a:solidFill>
              </a:rPr>
              <a:t>tabs</a:t>
            </a:r>
            <a:r>
              <a:rPr lang="es-ES" sz="1600" dirty="0">
                <a:solidFill>
                  <a:schemeClr val="tx1"/>
                </a:solidFill>
              </a:rPr>
              <a:t>&gt; → componente contenedor de las pestañas.</a:t>
            </a:r>
          </a:p>
          <a:p>
            <a:endParaRPr lang="es-ES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chemeClr val="tx1"/>
                </a:solidFill>
              </a:rPr>
              <a:t>&lt;ion-</a:t>
            </a:r>
            <a:r>
              <a:rPr lang="es-ES" sz="1600" dirty="0" err="1">
                <a:solidFill>
                  <a:schemeClr val="tx1"/>
                </a:solidFill>
              </a:rPr>
              <a:t>tab</a:t>
            </a:r>
            <a:r>
              <a:rPr lang="es-ES" sz="1600" dirty="0">
                <a:solidFill>
                  <a:schemeClr val="tx1"/>
                </a:solidFill>
              </a:rPr>
              <a:t>-bar slot="bottom"&gt; → barra inferior donde aparecen los botones de cada pestaña.</a:t>
            </a:r>
          </a:p>
          <a:p>
            <a:endParaRPr lang="es-ES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chemeClr val="tx1"/>
                </a:solidFill>
              </a:rPr>
              <a:t>&lt;ion-</a:t>
            </a:r>
            <a:r>
              <a:rPr lang="es-ES" sz="1600" dirty="0" err="1">
                <a:solidFill>
                  <a:schemeClr val="tx1"/>
                </a:solidFill>
              </a:rPr>
              <a:t>tab</a:t>
            </a:r>
            <a:r>
              <a:rPr lang="es-ES" sz="1600" dirty="0">
                <a:solidFill>
                  <a:schemeClr val="tx1"/>
                </a:solidFill>
              </a:rPr>
              <a:t>-</a:t>
            </a:r>
            <a:r>
              <a:rPr lang="es-ES" sz="1600" dirty="0" err="1">
                <a:solidFill>
                  <a:schemeClr val="tx1"/>
                </a:solidFill>
              </a:rPr>
              <a:t>button</a:t>
            </a:r>
            <a:r>
              <a:rPr lang="es-ES" sz="1600" dirty="0">
                <a:solidFill>
                  <a:schemeClr val="tx1"/>
                </a:solidFill>
              </a:rPr>
              <a:t>&gt; → define cada pestaña.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s-ES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1600" dirty="0" err="1">
                <a:solidFill>
                  <a:schemeClr val="tx1"/>
                </a:solidFill>
              </a:rPr>
              <a:t>tab</a:t>
            </a:r>
            <a:r>
              <a:rPr lang="es-ES" sz="1600" dirty="0">
                <a:solidFill>
                  <a:schemeClr val="tx1"/>
                </a:solidFill>
              </a:rPr>
              <a:t>="tab1" → nombre de la pestaña.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s-ES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1600" dirty="0" err="1">
                <a:solidFill>
                  <a:schemeClr val="tx1"/>
                </a:solidFill>
              </a:rPr>
              <a:t>href</a:t>
            </a:r>
            <a:r>
              <a:rPr lang="es-ES" sz="1600" dirty="0">
                <a:solidFill>
                  <a:schemeClr val="tx1"/>
                </a:solidFill>
              </a:rPr>
              <a:t>="/</a:t>
            </a:r>
            <a:r>
              <a:rPr lang="es-ES" sz="1600" dirty="0" err="1">
                <a:solidFill>
                  <a:schemeClr val="tx1"/>
                </a:solidFill>
              </a:rPr>
              <a:t>tabs</a:t>
            </a:r>
            <a:r>
              <a:rPr lang="es-ES" sz="1600" dirty="0">
                <a:solidFill>
                  <a:schemeClr val="tx1"/>
                </a:solidFill>
              </a:rPr>
              <a:t>/tab1" → ruta a la que navega.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s-ES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chemeClr val="tx1"/>
                </a:solidFill>
              </a:rPr>
              <a:t>&lt;ion-</a:t>
            </a:r>
            <a:r>
              <a:rPr lang="es-ES" sz="1600" dirty="0" err="1">
                <a:solidFill>
                  <a:schemeClr val="tx1"/>
                </a:solidFill>
              </a:rPr>
              <a:t>icon</a:t>
            </a:r>
            <a:r>
              <a:rPr lang="es-ES" sz="1600" dirty="0">
                <a:solidFill>
                  <a:schemeClr val="tx1"/>
                </a:solidFill>
              </a:rPr>
              <a:t>&gt; → ícono (de la librería de </a:t>
            </a:r>
            <a:r>
              <a:rPr lang="es-ES" sz="1600" dirty="0" err="1">
                <a:solidFill>
                  <a:schemeClr val="tx1"/>
                </a:solidFill>
              </a:rPr>
              <a:t>Ionicons</a:t>
            </a:r>
            <a:r>
              <a:rPr lang="es-ES" sz="1600" dirty="0">
                <a:solidFill>
                  <a:schemeClr val="tx1"/>
                </a:solidFill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s-ES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1600" dirty="0">
                <a:solidFill>
                  <a:schemeClr val="tx1"/>
                </a:solidFill>
              </a:rPr>
              <a:t>&lt;ion-</a:t>
            </a:r>
            <a:r>
              <a:rPr lang="es-ES" sz="1600" dirty="0" err="1">
                <a:solidFill>
                  <a:schemeClr val="tx1"/>
                </a:solidFill>
              </a:rPr>
              <a:t>label</a:t>
            </a:r>
            <a:r>
              <a:rPr lang="es-ES" sz="1600" dirty="0">
                <a:solidFill>
                  <a:schemeClr val="tx1"/>
                </a:solidFill>
              </a:rPr>
              <a:t>&gt; → texto debajo del ícono.</a:t>
            </a:r>
            <a:endParaRPr lang="es-CO" sz="1600"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6CB8D58-731B-5796-41DA-DD897CEDF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60" y="1797275"/>
            <a:ext cx="4392960" cy="32932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6373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4355E-0F9A-2F69-E929-2437AD18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0;p2">
            <a:extLst>
              <a:ext uri="{FF2B5EF4-FFF2-40B4-BE49-F238E27FC236}">
                <a16:creationId xmlns:a16="http://schemas.microsoft.com/office/drawing/2014/main" id="{B9326F6C-6293-267B-A8A0-552D84A33B08}"/>
              </a:ext>
            </a:extLst>
          </p:cNvPr>
          <p:cNvSpPr txBox="1"/>
          <p:nvPr/>
        </p:nvSpPr>
        <p:spPr>
          <a:xfrm>
            <a:off x="2971129" y="563403"/>
            <a:ext cx="625132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SzPts val="2800"/>
              <a:defRPr sz="2000" b="1">
                <a:solidFill>
                  <a:schemeClr val="lt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</a:defRPr>
            </a:lvl1pPr>
          </a:lstStyle>
          <a:p>
            <a:r>
              <a:rPr lang="es-ES" sz="2400" dirty="0">
                <a:sym typeface="Calibri"/>
              </a:rPr>
              <a:t> Integración del Componente de Productos en Tab1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239A6DC-5262-A235-5294-3CD8AFBE9CB9}"/>
              </a:ext>
            </a:extLst>
          </p:cNvPr>
          <p:cNvSpPr txBox="1"/>
          <p:nvPr/>
        </p:nvSpPr>
        <p:spPr>
          <a:xfrm>
            <a:off x="1095886" y="1378163"/>
            <a:ext cx="105324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Hasta ahora teníamos el </a:t>
            </a:r>
            <a:r>
              <a:rPr lang="es-ES" sz="1600" dirty="0" err="1"/>
              <a:t>ProductsPage</a:t>
            </a:r>
            <a:r>
              <a:rPr lang="es-ES" sz="1600" dirty="0"/>
              <a:t> funcionando como página </a:t>
            </a:r>
            <a:r>
              <a:rPr lang="es-ES" sz="1600" dirty="0" err="1"/>
              <a:t>independiente.Lo</a:t>
            </a:r>
            <a:r>
              <a:rPr lang="es-ES" sz="1600" dirty="0"/>
              <a:t> que hicimos ahora es importar ese componente en el Tab1 para reutilizarlo directamente dentro de la vista principal.</a:t>
            </a:r>
            <a:endParaRPr lang="es-CO" sz="16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96A64B4-B737-8F56-0A19-0C3F66DEF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94" y="2209119"/>
            <a:ext cx="3518048" cy="16745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Rectángulo: esquinas diagonales redondeadas 16">
            <a:extLst>
              <a:ext uri="{FF2B5EF4-FFF2-40B4-BE49-F238E27FC236}">
                <a16:creationId xmlns:a16="http://schemas.microsoft.com/office/drawing/2014/main" id="{4E772C54-7B3D-2600-E388-DEA10DF3B55A}"/>
              </a:ext>
            </a:extLst>
          </p:cNvPr>
          <p:cNvSpPr/>
          <p:nvPr/>
        </p:nvSpPr>
        <p:spPr>
          <a:xfrm>
            <a:off x="6728052" y="2482678"/>
            <a:ext cx="4313328" cy="1279873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&lt;app-</a:t>
            </a:r>
            <a:r>
              <a:rPr lang="es-ES" sz="105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products</a:t>
            </a:r>
            <a:r>
              <a:rPr lang="es-ES" sz="105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</a:t>
            </a:r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→ es el selector del componente </a:t>
            </a:r>
            <a:r>
              <a:rPr lang="es-ES" sz="10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ProductsPage</a:t>
            </a:r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 lugar de volver a escribir la lógica de productos aquí, simplemente reusamos el componente completo.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Esto demuestra el principio de composición: usar componentes pequeños para construir vistas más grandes.</a:t>
            </a:r>
            <a:endParaRPr lang="es-CO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A0A529AC-7B9B-F674-7B14-C47404255DD0}"/>
              </a:ext>
            </a:extLst>
          </p:cNvPr>
          <p:cNvSpPr/>
          <p:nvPr/>
        </p:nvSpPr>
        <p:spPr>
          <a:xfrm>
            <a:off x="5638596" y="2901634"/>
            <a:ext cx="678180" cy="28956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22D9F34-86A5-20B2-3356-69EAB2158D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109"/>
          <a:stretch>
            <a:fillRect/>
          </a:stretch>
        </p:blipFill>
        <p:spPr>
          <a:xfrm>
            <a:off x="1222453" y="4102923"/>
            <a:ext cx="4096307" cy="17494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E6EDFD8F-8507-28F1-A0EE-4F3A316F67CF}"/>
              </a:ext>
            </a:extLst>
          </p:cNvPr>
          <p:cNvSpPr/>
          <p:nvPr/>
        </p:nvSpPr>
        <p:spPr>
          <a:xfrm>
            <a:off x="5638596" y="4754928"/>
            <a:ext cx="678180" cy="28956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Rectángulo: esquinas diagonales redondeadas 22">
            <a:extLst>
              <a:ext uri="{FF2B5EF4-FFF2-40B4-BE49-F238E27FC236}">
                <a16:creationId xmlns:a16="http://schemas.microsoft.com/office/drawing/2014/main" id="{F809A3EE-74D1-7585-9CBC-15971112FFA4}"/>
              </a:ext>
            </a:extLst>
          </p:cNvPr>
          <p:cNvSpPr/>
          <p:nvPr/>
        </p:nvSpPr>
        <p:spPr>
          <a:xfrm>
            <a:off x="6636612" y="4314934"/>
            <a:ext cx="4313328" cy="1279873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10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ProductsPage</a:t>
            </a:r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ahora se importa como un </a:t>
            </a:r>
            <a:r>
              <a:rPr lang="es-ES" sz="10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Standalone</a:t>
            </a:r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sz="10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Component</a:t>
            </a:r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10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imports</a:t>
            </a:r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[</a:t>
            </a:r>
            <a:r>
              <a:rPr lang="es-ES" sz="10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IonicModule</a:t>
            </a:r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s-ES" sz="10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ProductsPage</a:t>
            </a:r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s-ES" sz="10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CommonModule</a:t>
            </a:r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s-ES" sz="10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FormsModule</a:t>
            </a:r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 → permite usar tanto componentes de </a:t>
            </a:r>
            <a:r>
              <a:rPr lang="es-ES" sz="10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Ionic</a:t>
            </a:r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como el nuestro (&lt;app-</a:t>
            </a:r>
            <a:r>
              <a:rPr lang="es-ES" sz="10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products</a:t>
            </a:r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&gt;) dentro del Tab1.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10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standalone</a:t>
            </a:r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true → no necesitamos un </a:t>
            </a:r>
            <a:r>
              <a:rPr lang="es-ES" sz="10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NgModule</a:t>
            </a:r>
            <a:r>
              <a:rPr lang="es-E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porque todo se declara en el propio componente.</a:t>
            </a:r>
            <a:endParaRPr lang="es-CO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656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CC0CA-A17B-BE56-7175-8F38ABB6A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0;p2">
            <a:extLst>
              <a:ext uri="{FF2B5EF4-FFF2-40B4-BE49-F238E27FC236}">
                <a16:creationId xmlns:a16="http://schemas.microsoft.com/office/drawing/2014/main" id="{93BBC553-AF2E-F0AA-E644-A8A2B1D0DC82}"/>
              </a:ext>
            </a:extLst>
          </p:cNvPr>
          <p:cNvSpPr txBox="1"/>
          <p:nvPr/>
        </p:nvSpPr>
        <p:spPr>
          <a:xfrm>
            <a:off x="2971129" y="563403"/>
            <a:ext cx="625132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SzPts val="2800"/>
              <a:defRPr sz="2000" b="1">
                <a:solidFill>
                  <a:schemeClr val="lt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</a:defRPr>
            </a:lvl1pPr>
          </a:lstStyle>
          <a:p>
            <a:r>
              <a:rPr lang="es-ES" sz="2400" dirty="0">
                <a:sym typeface="Calibri"/>
              </a:rPr>
              <a:t> Integración del Componente de Productos en Tab1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85EBA54-B6D8-4BD9-A05D-2E340F940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44" y="1842670"/>
            <a:ext cx="5067300" cy="17430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2A801E0-6F4B-459F-1299-2B4224BA3850}"/>
              </a:ext>
            </a:extLst>
          </p:cNvPr>
          <p:cNvSpPr txBox="1"/>
          <p:nvPr/>
        </p:nvSpPr>
        <p:spPr>
          <a:xfrm>
            <a:off x="1029493" y="3694212"/>
            <a:ext cx="50673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/>
              <a:t>Ajuste en el Componente de Productos → </a:t>
            </a:r>
            <a:r>
              <a:rPr lang="es-CO" sz="1200" dirty="0" err="1"/>
              <a:t>products.page.ts</a:t>
            </a:r>
            <a:endParaRPr lang="es-CO" sz="1200" dirty="0"/>
          </a:p>
        </p:txBody>
      </p:sp>
      <p:sp>
        <p:nvSpPr>
          <p:cNvPr id="16" name="Bocadillo: rectángulo con esquinas redondeadas 15">
            <a:extLst>
              <a:ext uri="{FF2B5EF4-FFF2-40B4-BE49-F238E27FC236}">
                <a16:creationId xmlns:a16="http://schemas.microsoft.com/office/drawing/2014/main" id="{4EA50D8C-5717-A96F-9C5E-112AD3A842ED}"/>
              </a:ext>
            </a:extLst>
          </p:cNvPr>
          <p:cNvSpPr/>
          <p:nvPr/>
        </p:nvSpPr>
        <p:spPr>
          <a:xfrm>
            <a:off x="6720840" y="2180807"/>
            <a:ext cx="4457700" cy="1066800"/>
          </a:xfrm>
          <a:prstGeom prst="wedgeRoundRectCallout">
            <a:avLst>
              <a:gd name="adj1" fmla="val -35363"/>
              <a:gd name="adj2" fmla="val 64643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000" b="1" dirty="0"/>
              <a:t>Explicación</a:t>
            </a:r>
          </a:p>
          <a:p>
            <a:r>
              <a:rPr lang="es-ES" sz="1000" dirty="0"/>
              <a:t>Agregamos </a:t>
            </a:r>
            <a:r>
              <a:rPr lang="es-ES" sz="1000" dirty="0" err="1"/>
              <a:t>CommonModule</a:t>
            </a:r>
            <a:r>
              <a:rPr lang="es-ES" sz="1000" dirty="0"/>
              <a:t> y </a:t>
            </a:r>
            <a:r>
              <a:rPr lang="es-ES" sz="1000" dirty="0" err="1"/>
              <a:t>FormsModule</a:t>
            </a:r>
            <a:r>
              <a:rPr lang="es-ES" sz="1000" dirty="0"/>
              <a:t> en los </a:t>
            </a:r>
            <a:r>
              <a:rPr lang="es-ES" sz="1000" dirty="0" err="1"/>
              <a:t>imports</a:t>
            </a:r>
            <a:r>
              <a:rPr lang="es-ES" sz="1000" dirty="0"/>
              <a:t> para poder usar directivas de Angular como *</a:t>
            </a:r>
            <a:r>
              <a:rPr lang="es-ES" sz="1000" dirty="0" err="1"/>
              <a:t>ngFor</a:t>
            </a:r>
            <a:r>
              <a:rPr lang="es-ES" sz="1000" dirty="0"/>
              <a:t>, *</a:t>
            </a:r>
            <a:r>
              <a:rPr lang="es-ES" sz="1000" dirty="0" err="1"/>
              <a:t>ngIf</a:t>
            </a:r>
            <a:r>
              <a:rPr lang="es-ES" sz="1000" dirty="0"/>
              <a:t>, [(</a:t>
            </a:r>
            <a:r>
              <a:rPr lang="es-ES" sz="1000" dirty="0" err="1"/>
              <a:t>ngModel</a:t>
            </a:r>
            <a:r>
              <a:rPr lang="es-ES" sz="1000" dirty="0"/>
              <a:t>)], etc.</a:t>
            </a:r>
          </a:p>
          <a:p>
            <a:r>
              <a:rPr lang="es-ES" sz="1000" dirty="0"/>
              <a:t>Ahora el componente es totalmente reutilizable en cualquier parte de la app (</a:t>
            </a:r>
            <a:r>
              <a:rPr lang="es-ES" sz="1000" dirty="0" err="1"/>
              <a:t>tabs</a:t>
            </a:r>
            <a:r>
              <a:rPr lang="es-ES" sz="1000" dirty="0"/>
              <a:t>, páginas, o incluso dentro de otros componentes).</a:t>
            </a:r>
            <a:endParaRPr lang="es-CO" sz="10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33FF2B0C-E58A-A655-ADA2-42BEAC7B1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039" y="4268152"/>
            <a:ext cx="3395821" cy="15245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055FE00E-0012-0CF8-DB86-5E49FE0808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684"/>
          <a:stretch>
            <a:fillRect/>
          </a:stretch>
        </p:blipFill>
        <p:spPr>
          <a:xfrm>
            <a:off x="6007259" y="4268152"/>
            <a:ext cx="3215199" cy="15245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7C287064-8975-226A-F4E0-0DDFDCDAAF6B}"/>
              </a:ext>
            </a:extLst>
          </p:cNvPr>
          <p:cNvSpPr txBox="1"/>
          <p:nvPr/>
        </p:nvSpPr>
        <p:spPr>
          <a:xfrm>
            <a:off x="3672840" y="593571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Realizamos el mismo proceso para el </a:t>
            </a:r>
            <a:r>
              <a:rPr lang="es-CO" dirty="0" err="1"/>
              <a:t>tabs</a:t>
            </a:r>
            <a:r>
              <a:rPr lang="es-CO" dirty="0"/>
              <a:t> 2 y </a:t>
            </a:r>
            <a:r>
              <a:rPr lang="es-CO" dirty="0" err="1"/>
              <a:t>tab</a:t>
            </a:r>
            <a:r>
              <a:rPr lang="es-CO" dirty="0"/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3213691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A0761-65BA-D044-0F4D-2CF3BA68A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7A77E911-FF85-D2F2-882F-9A3CAEEE6EB7}"/>
              </a:ext>
            </a:extLst>
          </p:cNvPr>
          <p:cNvSpPr txBox="1"/>
          <p:nvPr/>
        </p:nvSpPr>
        <p:spPr>
          <a:xfrm>
            <a:off x="2929420" y="668852"/>
            <a:ext cx="58683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2800"/>
              <a:buNone/>
              <a:defRPr sz="2800" b="1">
                <a:solidFill>
                  <a:schemeClr val="lt1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</a:defRPr>
            </a:lvl1pPr>
          </a:lstStyle>
          <a:p>
            <a:r>
              <a:rPr lang="es-CO" dirty="0"/>
              <a:t>Resultado del Proyecto</a:t>
            </a:r>
            <a:endParaRPr lang="es-ES" dirty="0">
              <a:sym typeface="Calibri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D56D718-F9BA-86FD-469B-F496BC226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256" y="1340318"/>
            <a:ext cx="1835792" cy="44653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24" name="Gráfico 23" descr="Carro de la compra">
            <a:extLst>
              <a:ext uri="{FF2B5EF4-FFF2-40B4-BE49-F238E27FC236}">
                <a16:creationId xmlns:a16="http://schemas.microsoft.com/office/drawing/2014/main" id="{85273EB8-8D4B-5306-1DC5-10E17E33F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4679" y="1541800"/>
            <a:ext cx="343141" cy="343141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8EF8D752-3FC3-AE3F-0EDA-886C1E63133E}"/>
              </a:ext>
            </a:extLst>
          </p:cNvPr>
          <p:cNvSpPr txBox="1"/>
          <p:nvPr/>
        </p:nvSpPr>
        <p:spPr>
          <a:xfrm>
            <a:off x="1607820" y="1541800"/>
            <a:ext cx="48920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rgbClr val="002060"/>
                </a:solidFill>
              </a:rPr>
              <a:t>Pantalla de Productos:</a:t>
            </a:r>
          </a:p>
          <a:p>
            <a:endParaRPr lang="es-ES" sz="18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1800" dirty="0"/>
              <a:t>Es la </a:t>
            </a:r>
            <a:r>
              <a:rPr lang="es-ES" sz="1800" b="1" dirty="0"/>
              <a:t>pantalla inicial</a:t>
            </a:r>
            <a:r>
              <a:rPr lang="es-ES" sz="1800" dirty="0"/>
              <a:t> de la aplicación.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1800" dirty="0"/>
              <a:t>Presenta un catálogo con los productos disponibles, cada uno en una </a:t>
            </a:r>
            <a:r>
              <a:rPr lang="es-ES" sz="1800" b="1" dirty="0"/>
              <a:t>tarjeta</a:t>
            </a:r>
            <a:r>
              <a:rPr lang="es-ES" sz="1800" dirty="0"/>
              <a:t> que muestra:</a:t>
            </a:r>
          </a:p>
          <a:p>
            <a:pPr lvl="1"/>
            <a:r>
              <a:rPr lang="es-ES" sz="1800" dirty="0"/>
              <a:t>	📌 Imagen representativa.</a:t>
            </a:r>
          </a:p>
          <a:p>
            <a:pPr lvl="3"/>
            <a:r>
              <a:rPr lang="es-ES" sz="1800" dirty="0"/>
              <a:t>	📌 Nombre y precio.</a:t>
            </a:r>
          </a:p>
          <a:p>
            <a:pPr lvl="1"/>
            <a:r>
              <a:rPr lang="es-ES" sz="1800" dirty="0"/>
              <a:t>	📌 Botón </a:t>
            </a:r>
            <a:r>
              <a:rPr lang="es-ES" sz="1800" b="1" dirty="0"/>
              <a:t>“Agregar”</a:t>
            </a:r>
            <a:r>
              <a:rPr lang="es-ES" sz="1800" dirty="0"/>
              <a:t> para incluir el 	producto en el carrito.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1800" dirty="0"/>
              <a:t>Permite al usuario iniciar la experiencia de compra de forma sencilla e intuitiva.</a:t>
            </a:r>
          </a:p>
          <a:p>
            <a:endParaRPr lang="es-CO" sz="1800" dirty="0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2C3CD23D-16FE-9925-C43C-05775CC726D4}"/>
              </a:ext>
            </a:extLst>
          </p:cNvPr>
          <p:cNvSpPr/>
          <p:nvPr/>
        </p:nvSpPr>
        <p:spPr>
          <a:xfrm>
            <a:off x="1436249" y="1999209"/>
            <a:ext cx="5185531" cy="3106191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6183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36D69-9947-E99E-1776-B6D6FA0BF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7F95748A-8951-2562-93B9-7F0FA00DF19D}"/>
              </a:ext>
            </a:extLst>
          </p:cNvPr>
          <p:cNvSpPr txBox="1"/>
          <p:nvPr/>
        </p:nvSpPr>
        <p:spPr>
          <a:xfrm>
            <a:off x="2929420" y="668852"/>
            <a:ext cx="58683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2800"/>
              <a:buNone/>
              <a:defRPr sz="2800" b="1">
                <a:solidFill>
                  <a:schemeClr val="lt1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</a:defRPr>
            </a:lvl1pPr>
          </a:lstStyle>
          <a:p>
            <a:r>
              <a:rPr lang="es-CO" dirty="0"/>
              <a:t>Resultado del Proyecto</a:t>
            </a:r>
            <a:endParaRPr lang="es-ES" dirty="0">
              <a:sym typeface="Calibri"/>
            </a:endParaRPr>
          </a:p>
        </p:txBody>
      </p:sp>
      <p:pic>
        <p:nvPicPr>
          <p:cNvPr id="24" name="Gráfico 23" descr="Carro de la compra">
            <a:extLst>
              <a:ext uri="{FF2B5EF4-FFF2-40B4-BE49-F238E27FC236}">
                <a16:creationId xmlns:a16="http://schemas.microsoft.com/office/drawing/2014/main" id="{2F12B8F2-10C0-8D05-01FE-45E62548B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4679" y="1541800"/>
            <a:ext cx="343141" cy="343141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72146998-D996-1807-AAF0-6D25154790EC}"/>
              </a:ext>
            </a:extLst>
          </p:cNvPr>
          <p:cNvSpPr txBox="1"/>
          <p:nvPr/>
        </p:nvSpPr>
        <p:spPr>
          <a:xfrm>
            <a:off x="1607820" y="1541800"/>
            <a:ext cx="48920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rgbClr val="002060"/>
                </a:solidFill>
              </a:rPr>
              <a:t>Pantalla de Carrito:</a:t>
            </a:r>
          </a:p>
          <a:p>
            <a:endParaRPr lang="es-ES" sz="18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1800" dirty="0"/>
              <a:t>Muestra el listado de </a:t>
            </a:r>
            <a:r>
              <a:rPr lang="es-ES" sz="1800" b="1" dirty="0"/>
              <a:t>productos seleccionados</a:t>
            </a:r>
            <a:r>
              <a:rPr lang="es-ES" sz="1800" dirty="0"/>
              <a:t> por el usuario.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CO" sz="1800" dirty="0"/>
              <a:t>Cada ítem refleja:</a:t>
            </a:r>
            <a:endParaRPr lang="es-ES" sz="1800" dirty="0"/>
          </a:p>
          <a:p>
            <a:pPr lvl="1"/>
            <a:r>
              <a:rPr lang="es-ES" sz="1800" dirty="0"/>
              <a:t>	📌 </a:t>
            </a:r>
            <a:r>
              <a:rPr lang="es-CO" sz="1800" dirty="0"/>
              <a:t>Nombre del producto.</a:t>
            </a:r>
          </a:p>
          <a:p>
            <a:pPr lvl="1"/>
            <a:r>
              <a:rPr lang="es-ES" sz="1800" dirty="0"/>
              <a:t>	📌 </a:t>
            </a:r>
            <a:r>
              <a:rPr lang="es-CO" sz="1800" dirty="0"/>
              <a:t>Cantidad añadida.</a:t>
            </a:r>
            <a:r>
              <a:rPr lang="es-ES" sz="1800" dirty="0"/>
              <a:t>	</a:t>
            </a:r>
          </a:p>
          <a:p>
            <a:pPr lvl="1"/>
            <a:r>
              <a:rPr lang="es-ES" sz="1800" dirty="0"/>
              <a:t>	📌 </a:t>
            </a:r>
            <a:r>
              <a:rPr lang="es-CO" sz="1800" dirty="0"/>
              <a:t>Precio total por producto.</a:t>
            </a: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s-ES" sz="1800" dirty="0"/>
              <a:t>Actúa como paso intermedio antes de proceder al pago.</a:t>
            </a:r>
            <a:endParaRPr lang="es-CO" sz="1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7F2DDA4-4D75-92FC-8CFF-AF9EFC547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963" y="1378418"/>
            <a:ext cx="1910823" cy="45796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B6B6FA3-6F4F-BAEA-374D-E943EF777592}"/>
              </a:ext>
            </a:extLst>
          </p:cNvPr>
          <p:cNvSpPr/>
          <p:nvPr/>
        </p:nvSpPr>
        <p:spPr>
          <a:xfrm>
            <a:off x="1295712" y="1975391"/>
            <a:ext cx="4770361" cy="2778499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3616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A1BBE-2F38-01D2-6C59-390B22E03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2D849648-D8E3-60A7-40F8-D80258B4B7B8}"/>
              </a:ext>
            </a:extLst>
          </p:cNvPr>
          <p:cNvSpPr txBox="1"/>
          <p:nvPr/>
        </p:nvSpPr>
        <p:spPr>
          <a:xfrm>
            <a:off x="2929420" y="668852"/>
            <a:ext cx="58683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2800"/>
              <a:buNone/>
              <a:defRPr sz="2800" b="1">
                <a:solidFill>
                  <a:schemeClr val="lt1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</a:defRPr>
            </a:lvl1pPr>
          </a:lstStyle>
          <a:p>
            <a:r>
              <a:rPr lang="es-CO" dirty="0"/>
              <a:t>Resultado del Proyecto</a:t>
            </a:r>
            <a:endParaRPr lang="es-ES" dirty="0">
              <a:sym typeface="Calibri"/>
            </a:endParaRPr>
          </a:p>
        </p:txBody>
      </p:sp>
      <p:pic>
        <p:nvPicPr>
          <p:cNvPr id="24" name="Gráfico 23" descr="Carro de la compra">
            <a:extLst>
              <a:ext uri="{FF2B5EF4-FFF2-40B4-BE49-F238E27FC236}">
                <a16:creationId xmlns:a16="http://schemas.microsoft.com/office/drawing/2014/main" id="{319FB7A2-6B4A-3633-5112-5C052A3D3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4679" y="1541800"/>
            <a:ext cx="343141" cy="343141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BD5BD8FD-033B-1611-425D-9710B70A5BE9}"/>
              </a:ext>
            </a:extLst>
          </p:cNvPr>
          <p:cNvSpPr txBox="1"/>
          <p:nvPr/>
        </p:nvSpPr>
        <p:spPr>
          <a:xfrm>
            <a:off x="1607820" y="1541800"/>
            <a:ext cx="48920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rgbClr val="002060"/>
                </a:solidFill>
              </a:rPr>
              <a:t>Pantalla de </a:t>
            </a:r>
            <a:r>
              <a:rPr lang="es-CO" sz="1800" b="1" dirty="0" err="1">
                <a:solidFill>
                  <a:srgbClr val="002060"/>
                </a:solidFill>
              </a:rPr>
              <a:t>Checkout</a:t>
            </a:r>
            <a:r>
              <a:rPr lang="es-ES" sz="1800" b="1" dirty="0">
                <a:solidFill>
                  <a:srgbClr val="002060"/>
                </a:solidFill>
              </a:rPr>
              <a:t>:</a:t>
            </a:r>
          </a:p>
          <a:p>
            <a:endParaRPr lang="es-ES" sz="18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CO" sz="1800" dirty="0"/>
              <a:t>Presenta un </a:t>
            </a:r>
            <a:r>
              <a:rPr lang="es-CO" sz="1800" b="1" dirty="0"/>
              <a:t>resumen completo de la compra</a:t>
            </a:r>
            <a:r>
              <a:rPr lang="es-CO" sz="18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1800" dirty="0"/>
              <a:t>Detalla cada producto con su cantidad y precio.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1800" dirty="0"/>
              <a:t>Calcula de forma automática el </a:t>
            </a:r>
            <a:r>
              <a:rPr lang="es-ES" sz="1800" b="1" dirty="0"/>
              <a:t>total acumulado</a:t>
            </a:r>
            <a:r>
              <a:rPr lang="es-ES" sz="18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1800" dirty="0"/>
              <a:t>Incluye el botón </a:t>
            </a:r>
            <a:r>
              <a:rPr lang="es-ES" sz="1800" b="1" dirty="0"/>
              <a:t>“Finalizar Compra”</a:t>
            </a:r>
            <a:r>
              <a:rPr lang="es-ES" sz="1800" dirty="0"/>
              <a:t>, que representa la confirmación de la intención de pago.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1800" dirty="0"/>
              <a:t>Garantiza transparencia y control al usuario antes de cerrar la transacción.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FB7D63-671A-3200-FFE1-F881DC3DDD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1" r="721"/>
          <a:stretch/>
        </p:blipFill>
        <p:spPr>
          <a:xfrm>
            <a:off x="7207003" y="1386038"/>
            <a:ext cx="1910823" cy="45796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94A96AA-4829-D2AE-8C36-7AE4A0789C34}"/>
              </a:ext>
            </a:extLst>
          </p:cNvPr>
          <p:cNvSpPr/>
          <p:nvPr/>
        </p:nvSpPr>
        <p:spPr>
          <a:xfrm>
            <a:off x="1220718" y="1975391"/>
            <a:ext cx="5347722" cy="3693319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7966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F42DF-CA9B-1E67-E977-3FA8918A1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1FD543E9-4C15-7CDA-6737-76931FA565D5}"/>
              </a:ext>
            </a:extLst>
          </p:cNvPr>
          <p:cNvSpPr txBox="1"/>
          <p:nvPr/>
        </p:nvSpPr>
        <p:spPr>
          <a:xfrm>
            <a:off x="2929420" y="668852"/>
            <a:ext cx="58683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2800"/>
              <a:buNone/>
              <a:defRPr sz="2800" b="1">
                <a:solidFill>
                  <a:schemeClr val="lt1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</a:defRPr>
            </a:lvl1pPr>
          </a:lstStyle>
          <a:p>
            <a:r>
              <a:rPr lang="es-CO" dirty="0"/>
              <a:t>Resultado del Proyecto</a:t>
            </a:r>
            <a:endParaRPr lang="es-ES" dirty="0">
              <a:sym typeface="Calibri"/>
            </a:endParaRPr>
          </a:p>
        </p:txBody>
      </p:sp>
      <p:pic>
        <p:nvPicPr>
          <p:cNvPr id="24" name="Gráfico 23" descr="Carro de la compra">
            <a:extLst>
              <a:ext uri="{FF2B5EF4-FFF2-40B4-BE49-F238E27FC236}">
                <a16:creationId xmlns:a16="http://schemas.microsoft.com/office/drawing/2014/main" id="{BBD2AD91-69CD-ACCF-3FEE-805AF72D0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4679" y="1541800"/>
            <a:ext cx="343141" cy="343141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51296F26-558C-02F3-9418-C127834C0D15}"/>
              </a:ext>
            </a:extLst>
          </p:cNvPr>
          <p:cNvSpPr txBox="1"/>
          <p:nvPr/>
        </p:nvSpPr>
        <p:spPr>
          <a:xfrm>
            <a:off x="1607820" y="1541800"/>
            <a:ext cx="48920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solidFill>
                  <a:srgbClr val="002060"/>
                </a:solidFill>
              </a:rPr>
              <a:t>Pantalla de </a:t>
            </a:r>
            <a:r>
              <a:rPr lang="es-CO" sz="1800" b="1" dirty="0">
                <a:solidFill>
                  <a:srgbClr val="002060"/>
                </a:solidFill>
              </a:rPr>
              <a:t>Confirmación</a:t>
            </a:r>
            <a:r>
              <a:rPr lang="es-ES" sz="1800" b="1" dirty="0">
                <a:solidFill>
                  <a:srgbClr val="002060"/>
                </a:solidFill>
              </a:rPr>
              <a:t>:</a:t>
            </a:r>
          </a:p>
          <a:p>
            <a:endParaRPr lang="es-ES" sz="18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1800" dirty="0"/>
              <a:t>Tras completar la acción de compra, se despliega un </a:t>
            </a:r>
            <a:r>
              <a:rPr lang="es-ES" sz="1800" b="1" dirty="0"/>
              <a:t>mensaje emergente</a:t>
            </a:r>
            <a:r>
              <a:rPr lang="es-ES" sz="18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1800" dirty="0"/>
              <a:t>Informa al usuario que la operación fue </a:t>
            </a:r>
            <a:r>
              <a:rPr lang="es-ES" sz="1800" b="1" dirty="0"/>
              <a:t>exitosa</a:t>
            </a:r>
            <a:r>
              <a:rPr lang="es-ES" sz="1800" dirty="0"/>
              <a:t> con un aviso visual claro y positivo.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1800" dirty="0"/>
              <a:t>Refuerza la confianza y genera satisfacción en la experiencia de uso.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s-ES" sz="1800" dirty="0"/>
              <a:t>Con este paso, el flujo de compra queda finalizado de manera correcta.</a:t>
            </a:r>
            <a:endParaRPr lang="es-CO" sz="1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27A8514-1800-154F-173D-1A5F3A1037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5" r="225"/>
          <a:stretch/>
        </p:blipFill>
        <p:spPr>
          <a:xfrm>
            <a:off x="7207003" y="1386038"/>
            <a:ext cx="1910823" cy="45796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53E4DA8-F545-5377-BD32-BDC96239E0A1}"/>
              </a:ext>
            </a:extLst>
          </p:cNvPr>
          <p:cNvSpPr/>
          <p:nvPr/>
        </p:nvSpPr>
        <p:spPr>
          <a:xfrm>
            <a:off x="1220718" y="1975391"/>
            <a:ext cx="5347722" cy="2893789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22509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A3D5C0DB-5474-3C59-4750-93577A413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>
            <a:extLst>
              <a:ext uri="{FF2B5EF4-FFF2-40B4-BE49-F238E27FC236}">
                <a16:creationId xmlns:a16="http://schemas.microsoft.com/office/drawing/2014/main" id="{CE403F31-1114-3414-70CE-4B1B1D67C0FF}"/>
              </a:ext>
            </a:extLst>
          </p:cNvPr>
          <p:cNvSpPr txBox="1"/>
          <p:nvPr/>
        </p:nvSpPr>
        <p:spPr>
          <a:xfrm>
            <a:off x="561758" y="546036"/>
            <a:ext cx="410901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800" b="1" i="0" u="none" strike="noStrike" cap="none" dirty="0">
                <a:solidFill>
                  <a:schemeClr val="lt1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Calibri"/>
                <a:ea typeface="Calibri"/>
                <a:cs typeface="Calibri"/>
                <a:sym typeface="Calibri"/>
              </a:rPr>
              <a:t>Conclusiones del Proyecto</a:t>
            </a:r>
          </a:p>
        </p:txBody>
      </p:sp>
      <p:pic>
        <p:nvPicPr>
          <p:cNvPr id="4" name="Imagen 3" descr="cccbInterfaz de usuario gráfica, Aplicación">
            <a:extLst>
              <a:ext uri="{FF2B5EF4-FFF2-40B4-BE49-F238E27FC236}">
                <a16:creationId xmlns:a16="http://schemas.microsoft.com/office/drawing/2014/main" id="{B50DD8E6-A66A-EFFF-5D8B-84660A495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328" y="0"/>
            <a:ext cx="6705600" cy="658706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7DBC626-7533-AF0F-0118-18A424DE38E7}"/>
              </a:ext>
            </a:extLst>
          </p:cNvPr>
          <p:cNvSpPr txBox="1"/>
          <p:nvPr/>
        </p:nvSpPr>
        <p:spPr>
          <a:xfrm>
            <a:off x="208800" y="1160656"/>
            <a:ext cx="478444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 construyó una </a:t>
            </a:r>
            <a:r>
              <a:rPr kumimoji="0" lang="es-CO" altLang="es-CO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aplicación móvil híbrida</a:t>
            </a: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es-CO" altLang="es-CO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Ionic</a:t>
            </a: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+ Angular aplicando buenas prácticas de organización de código.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El proyecto permitió comprender:</a:t>
            </a:r>
            <a:endParaRPr lang="es-CO" altLang="es-CO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s-CO" altLang="es-CO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s-CO" altLang="es-CO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s-CO" altLang="es-CO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s-CO" altLang="es-CO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s-CO" altLang="es-CO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s-CO" altLang="es-CO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s-CO" altLang="es-CO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CO" altLang="es-CO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s-CO" altLang="es-CO" dirty="0">
                <a:solidFill>
                  <a:schemeClr val="bg1"/>
                </a:solidFill>
                <a:latin typeface="Arial" panose="020B0604020202020204" pitchFamily="34" charset="0"/>
              </a:rPr>
              <a:t>Resultado: una aplicación funcional que </a:t>
            </a:r>
            <a:r>
              <a:rPr lang="es-CO" altLang="es-CO" b="1" dirty="0">
                <a:solidFill>
                  <a:schemeClr val="bg1"/>
                </a:solidFill>
                <a:latin typeface="Arial" panose="020B0604020202020204" pitchFamily="34" charset="0"/>
              </a:rPr>
              <a:t>gestiona productos y simula un carrito de compras</a:t>
            </a:r>
            <a:r>
              <a:rPr lang="es-CO" altLang="es-CO" dirty="0">
                <a:solidFill>
                  <a:schemeClr val="bg1"/>
                </a:solidFill>
                <a:latin typeface="Arial" panose="020B0604020202020204" pitchFamily="34" charset="0"/>
              </a:rPr>
              <a:t>, lista para ser extendida con nuevas funcionalidades.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ED041FB-2835-8B90-3546-D29CC0B69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79" y="2237873"/>
            <a:ext cx="421086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Cómo </a:t>
            </a:r>
            <a:r>
              <a:rPr kumimoji="0" lang="es-CO" altLang="es-CO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crear y configurar</a:t>
            </a: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un proyecto </a:t>
            </a:r>
            <a:r>
              <a:rPr kumimoji="0" lang="es-CO" altLang="es-CO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Ionic</a:t>
            </a: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desde cero.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 importancia de separar la app en </a:t>
            </a:r>
            <a:r>
              <a:rPr kumimoji="0" lang="es-CO" altLang="es-CO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páginas, componentes, servicios y modelos</a:t>
            </a: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El uso de </a:t>
            </a:r>
            <a:r>
              <a:rPr kumimoji="0" lang="es-CO" altLang="es-CO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servicios (</a:t>
            </a:r>
            <a:r>
              <a:rPr kumimoji="0" lang="es-CO" altLang="es-CO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services</a:t>
            </a:r>
            <a:r>
              <a:rPr kumimoji="0" lang="es-CO" altLang="es-CO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como capa de lógica centralizada para el carrito de compras.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 ventaja de los </a:t>
            </a:r>
            <a:r>
              <a:rPr kumimoji="0" lang="es-CO" altLang="es-CO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modelos de datos</a:t>
            </a: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</a:t>
            </a:r>
            <a:r>
              <a:rPr lang="es-CO" altLang="es-CO" sz="1200" dirty="0">
                <a:solidFill>
                  <a:schemeClr val="bg1"/>
                </a:solidFill>
                <a:latin typeface="Arial" panose="020B0604020202020204" pitchFamily="34" charset="0"/>
              </a:rPr>
              <a:t>n </a:t>
            </a:r>
            <a:r>
              <a:rPr kumimoji="0" lang="es-CO" altLang="es-CO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TypeScript</a:t>
            </a:r>
            <a:r>
              <a:rPr kumimoji="0" lang="es-CO" altLang="es-CO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para evitar errores y mantener consistencia.</a:t>
            </a:r>
          </a:p>
        </p:txBody>
      </p:sp>
    </p:spTree>
    <p:extLst>
      <p:ext uri="{BB962C8B-B14F-4D97-AF65-F5344CB8AC3E}">
        <p14:creationId xmlns:p14="http://schemas.microsoft.com/office/powerpoint/2010/main" val="34374536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1916</Words>
  <Application>Microsoft Office PowerPoint</Application>
  <PresentationFormat>Personalizado</PresentationFormat>
  <Paragraphs>229</Paragraphs>
  <Slides>22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Arial</vt:lpstr>
      <vt:lpstr>Arial Unicode MS</vt:lpstr>
      <vt:lpstr>Calibri</vt:lpstr>
      <vt:lpstr>Courier New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Katherine Bello</dc:creator>
  <cp:lastModifiedBy>Maria Isabel Tovar Pastrana</cp:lastModifiedBy>
  <cp:revision>9</cp:revision>
  <dcterms:created xsi:type="dcterms:W3CDTF">2020-08-21T13:03:05Z</dcterms:created>
  <dcterms:modified xsi:type="dcterms:W3CDTF">2025-09-27T05:52:59Z</dcterms:modified>
</cp:coreProperties>
</file>