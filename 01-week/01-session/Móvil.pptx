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5" r:id="rId3"/>
    <p:sldId id="257" r:id="rId4"/>
    <p:sldId id="259" r:id="rId5"/>
    <p:sldId id="258" r:id="rId6"/>
    <p:sldId id="264" r:id="rId7"/>
    <p:sldId id="265" r:id="rId8"/>
    <p:sldId id="283" r:id="rId9"/>
    <p:sldId id="266" r:id="rId10"/>
    <p:sldId id="267" r:id="rId11"/>
    <p:sldId id="268" r:id="rId12"/>
    <p:sldId id="269" r:id="rId13"/>
    <p:sldId id="270" r:id="rId14"/>
    <p:sldId id="271" r:id="rId15"/>
    <p:sldId id="284" r:id="rId16"/>
    <p:sldId id="272" r:id="rId17"/>
    <p:sldId id="273" r:id="rId18"/>
    <p:sldId id="274" r:id="rId19"/>
    <p:sldId id="275" r:id="rId20"/>
    <p:sldId id="276" r:id="rId21"/>
    <p:sldId id="277" r:id="rId22"/>
    <p:sldId id="286" r:id="rId23"/>
    <p:sldId id="278" r:id="rId24"/>
    <p:sldId id="279" r:id="rId25"/>
    <p:sldId id="280" r:id="rId26"/>
    <p:sldId id="281" r:id="rId27"/>
    <p:sldId id="282" r:id="rId28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ieH4EVWVR1QM5LwxPaqGzKsbs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0E154D-DFE0-4779-8876-5B11C7B50002}">
  <a:tblStyle styleId="{CC0E154D-DFE0-4779-8876-5B11C7B5000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8F1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F1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01CE901-C148-41E3-B02C-5FA5473296A4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tcBdr/>
        <a:fill>
          <a:solidFill>
            <a:srgbClr val="CEE2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E2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1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EB975755-8215-8C7D-FD6B-5A26785C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>
            <a:extLst>
              <a:ext uri="{FF2B5EF4-FFF2-40B4-BE49-F238E27FC236}">
                <a16:creationId xmlns:a16="http://schemas.microsoft.com/office/drawing/2014/main" id="{F5B7D6E7-4646-C589-58DF-7F37EBE495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0CBCD8F7-28F7-6087-4B9E-50F04F2468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329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0B3692E-7A52-2B34-F792-99D73910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>
            <a:extLst>
              <a:ext uri="{FF2B5EF4-FFF2-40B4-BE49-F238E27FC236}">
                <a16:creationId xmlns:a16="http://schemas.microsoft.com/office/drawing/2014/main" id="{E34186B3-49D0-8BCA-A854-2B6D666BEC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36F453A9-B589-67F2-E920-F185492B1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6121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3B2D19C-B159-26BA-4AFF-40BAEBDB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>
            <a:extLst>
              <a:ext uri="{FF2B5EF4-FFF2-40B4-BE49-F238E27FC236}">
                <a16:creationId xmlns:a16="http://schemas.microsoft.com/office/drawing/2014/main" id="{A4462270-44B0-CA4F-79AF-0501D95B3F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2EC98E27-9A3B-3330-45ED-C97A0E6A3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7712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E2CB364F-71B4-93C2-C766-FC68F7FDD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>
            <a:extLst>
              <a:ext uri="{FF2B5EF4-FFF2-40B4-BE49-F238E27FC236}">
                <a16:creationId xmlns:a16="http://schemas.microsoft.com/office/drawing/2014/main" id="{02541B8D-16B1-93C2-F3CE-D68868916F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B3F0449E-562E-FB03-EAFD-D24BAC3DC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8978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3" y="0"/>
            <a:ext cx="121807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19"/>
              <a:buFont typeface="Calibri"/>
              <a:buNone/>
              <a:defRPr sz="481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rgbClr val="888888"/>
              </a:buClr>
              <a:buSzPts val="2344"/>
              <a:buFont typeface="Arial"/>
              <a:buNone/>
              <a:defRPr sz="23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2214"/>
              <a:buFont typeface="Arial"/>
              <a:buNone/>
              <a:defRPr sz="221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954"/>
              <a:buFont typeface="Arial"/>
              <a:buNone/>
              <a:defRPr sz="195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body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lnSpc>
                <a:spcPct val="100000"/>
              </a:lnSpc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lnSpc>
                <a:spcPct val="100000"/>
              </a:lnSpc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body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8"/>
          <p:cNvSpPr>
            <a:spLocks noGrp="1"/>
          </p:cNvSpPr>
          <p:nvPr>
            <p:ph type="pic" idx="2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body" idx="1"/>
          </p:nvPr>
        </p:nvSpPr>
        <p:spPr>
          <a:xfrm rot="5400000">
            <a:off x="3833815" y="-1623933"/>
            <a:ext cx="4525963" cy="1097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lnSpc>
                <a:spcPct val="100000"/>
              </a:lnSpc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 rot="5400000">
            <a:off x="7286368" y="1828622"/>
            <a:ext cx="5851525" cy="27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1"/>
          </p:nvPr>
        </p:nvSpPr>
        <p:spPr>
          <a:xfrm rot="5400000">
            <a:off x="1697641" y="-813323"/>
            <a:ext cx="5851525" cy="80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lnSpc>
                <a:spcPct val="100000"/>
              </a:lnSpc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lnSpc>
                <a:spcPct val="100000"/>
              </a:lnSpc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lnSpc>
                <a:spcPct val="100000"/>
              </a:lnSpc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lnSpc>
                <a:spcPct val="100000"/>
              </a:lnSpc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66"/>
              <a:buFont typeface="Arial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61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/>
        </p:nvSpPr>
        <p:spPr>
          <a:xfrm>
            <a:off x="439838" y="706056"/>
            <a:ext cx="4109013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Ingeniería para el Desarrollo Móvil</a:t>
            </a:r>
            <a:r>
              <a:rPr lang="es-E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 y Desarrollo Inicial de Aplicaciones Móviles con Ionic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Presentador: Ing. Jesús Ariel González Bonilla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E1DE9DEB-F18D-5500-041B-DEAAB8DFE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1" y="0"/>
            <a:ext cx="70627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ECF5F4D-0BD0-0634-2E4E-21CAA719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04C83EAB-7CD1-868E-4A90-5E19A40EBD7A}"/>
              </a:ext>
            </a:extLst>
          </p:cNvPr>
          <p:cNvSpPr txBox="1"/>
          <p:nvPr/>
        </p:nvSpPr>
        <p:spPr>
          <a:xfrm>
            <a:off x="439838" y="706056"/>
            <a:ext cx="4109013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Diseñar la arquitectura de una aplicación híbrida nativa soportada en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WebView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utilizando Ionic como capa de interfaz gráfica y Capacitor como puente para la integración segura de funcionalidades del dispositivo móvil.</a:t>
            </a:r>
            <a:endParaRPr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14" name="Picture 2" descr="Generated image">
            <a:extLst>
              <a:ext uri="{FF2B5EF4-FFF2-40B4-BE49-F238E27FC236}">
                <a16:creationId xmlns:a16="http://schemas.microsoft.com/office/drawing/2014/main" id="{EFEDD9CE-83F7-4761-F108-E942C668E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668" y="143934"/>
            <a:ext cx="6688666" cy="66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186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/>
        </p:nvSpPr>
        <p:spPr>
          <a:xfrm>
            <a:off x="938140" y="695494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¿Qué es el desarrollo móvil híbrido?</a:t>
            </a:r>
            <a:endParaRPr sz="2800" i="0" u="none" strike="noStrik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514807" y="1536194"/>
            <a:ext cx="779946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1600" dirty="0">
                <a:highlight>
                  <a:srgbClr val="FFFFFF"/>
                </a:highlight>
              </a:rPr>
              <a:t>Es un enfoque de desarrollo que permite construir aplicaciones móviles usando </a:t>
            </a:r>
            <a:r>
              <a:rPr lang="es-ES" sz="1600" b="1" dirty="0">
                <a:highlight>
                  <a:srgbClr val="FFFFFF"/>
                </a:highlight>
              </a:rPr>
              <a:t>tecnologías web</a:t>
            </a:r>
            <a:r>
              <a:rPr lang="es-ES" sz="1600" dirty="0">
                <a:highlight>
                  <a:srgbClr val="FFFFFF"/>
                </a:highlight>
              </a:rPr>
              <a:t> (HTML, CSS, JavaScript), pero que se ejecutan dentro de un </a:t>
            </a:r>
            <a:r>
              <a:rPr lang="es-ES" sz="1600" b="1" dirty="0" err="1">
                <a:highlight>
                  <a:srgbClr val="FFFFFF"/>
                </a:highlight>
              </a:rPr>
              <a:t>WebView</a:t>
            </a:r>
            <a:r>
              <a:rPr lang="es-ES" sz="1600" dirty="0">
                <a:highlight>
                  <a:srgbClr val="FFFFFF"/>
                </a:highlight>
              </a:rPr>
              <a:t> (navegador embebido en la app).</a:t>
            </a:r>
            <a:br>
              <a:rPr lang="es-ES" sz="1600" dirty="0">
                <a:highlight>
                  <a:srgbClr val="FFFFFF"/>
                </a:highlight>
              </a:rPr>
            </a:br>
            <a:r>
              <a:rPr lang="es-ES" sz="1600" dirty="0">
                <a:highlight>
                  <a:srgbClr val="FFFFFF"/>
                </a:highlight>
              </a:rPr>
              <a:t>La app se ve y distribuye como </a:t>
            </a:r>
            <a:r>
              <a:rPr lang="es-ES" sz="1600" b="1" dirty="0">
                <a:highlight>
                  <a:srgbClr val="FFFFFF"/>
                </a:highlight>
              </a:rPr>
              <a:t>nativa</a:t>
            </a:r>
            <a:r>
              <a:rPr lang="es-ES" sz="1600" dirty="0">
                <a:highlight>
                  <a:srgbClr val="FFFFFF"/>
                </a:highlight>
              </a:rPr>
              <a:t> (APK en Android o IPA en iOS), pero internamente gran parte de su lógica es web.</a:t>
            </a:r>
          </a:p>
          <a:p>
            <a:pPr algn="just"/>
            <a:endParaRPr lang="es-ES" sz="1600" b="1" dirty="0">
              <a:highlight>
                <a:srgbClr val="FFFFFF"/>
              </a:highlight>
            </a:endParaRPr>
          </a:p>
          <a:p>
            <a:pPr algn="just"/>
            <a:r>
              <a:rPr lang="es-ES" sz="1600" b="1" dirty="0">
                <a:highlight>
                  <a:srgbClr val="FFFFFF"/>
                </a:highlight>
              </a:rPr>
              <a:t>Características principales:</a:t>
            </a:r>
            <a:r>
              <a:rPr lang="es-ES" sz="1600" dirty="0">
                <a:highlight>
                  <a:srgbClr val="FFFFFF"/>
                </a:highlight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highlight>
                  <a:srgbClr val="FFFFFF"/>
                </a:highlight>
              </a:rPr>
              <a:t>Uso de una sola base de código para múltiples plataformas (Android, iOS, Web).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highlight>
                  <a:srgbClr val="FFFFFF"/>
                </a:highlight>
              </a:rPr>
              <a:t>Acceso a </a:t>
            </a:r>
            <a:r>
              <a:rPr lang="es-ES" sz="1600" dirty="0" err="1">
                <a:highlight>
                  <a:srgbClr val="FFFFFF"/>
                </a:highlight>
              </a:rPr>
              <a:t>APIs</a:t>
            </a:r>
            <a:r>
              <a:rPr lang="es-ES" sz="1600" dirty="0">
                <a:highlight>
                  <a:srgbClr val="FFFFFF"/>
                </a:highlight>
              </a:rPr>
              <a:t> nativas del dispositivo a través de un puente (ejemplo: Capacitor).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highlight>
                  <a:srgbClr val="FFFFFF"/>
                </a:highlight>
              </a:rPr>
              <a:t>Desarrollo más rápido y económico comparado con el desarrollo 100% nativo (Java/</a:t>
            </a:r>
            <a:r>
              <a:rPr lang="es-ES" sz="1600" dirty="0" err="1">
                <a:highlight>
                  <a:srgbClr val="FFFFFF"/>
                </a:highlight>
              </a:rPr>
              <a:t>Kotlin</a:t>
            </a:r>
            <a:r>
              <a:rPr lang="es-ES" sz="1600" dirty="0">
                <a:highlight>
                  <a:srgbClr val="FFFFFF"/>
                </a:highlight>
              </a:rPr>
              <a:t> para Android y Swift/</a:t>
            </a:r>
            <a:r>
              <a:rPr lang="es-ES" sz="1600" dirty="0" err="1">
                <a:highlight>
                  <a:srgbClr val="FFFFFF"/>
                </a:highlight>
              </a:rPr>
              <a:t>Objective</a:t>
            </a:r>
            <a:r>
              <a:rPr lang="es-ES" sz="1600" dirty="0">
                <a:highlight>
                  <a:srgbClr val="FFFFFF"/>
                </a:highlight>
              </a:rPr>
              <a:t>-C para iOS).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600" dirty="0">
              <a:highlight>
                <a:srgbClr val="FFFFFF"/>
              </a:highlight>
            </a:endParaRPr>
          </a:p>
          <a:p>
            <a:pPr algn="just"/>
            <a:r>
              <a:rPr lang="es-ES" sz="1600" b="1" dirty="0">
                <a:highlight>
                  <a:srgbClr val="FFFFFF"/>
                </a:highlight>
              </a:rPr>
              <a:t>Ejemplo:</a:t>
            </a:r>
            <a:endParaRPr lang="es-ES" sz="1600" dirty="0">
              <a:highlight>
                <a:srgbClr val="FFFFFF"/>
              </a:highlight>
            </a:endParaRPr>
          </a:p>
          <a:p>
            <a:pPr algn="just"/>
            <a:r>
              <a:rPr lang="es-ES" sz="1600" dirty="0">
                <a:highlight>
                  <a:srgbClr val="FFFFFF"/>
                </a:highlight>
              </a:rPr>
              <a:t>Una aplicación de pedidos de comida hecha en HTML + CSS + JS, empaquetada con Ionic + Capacitor, que funciona igual en Play Store y App Store.</a:t>
            </a:r>
          </a:p>
        </p:txBody>
      </p:sp>
      <p:pic>
        <p:nvPicPr>
          <p:cNvPr id="4" name="Imagen 3" descr="Imagen de la pantalla de un celular con letras&#10;&#10;El contenido generado por IA puede ser incorrecto.">
            <a:extLst>
              <a:ext uri="{FF2B5EF4-FFF2-40B4-BE49-F238E27FC236}">
                <a16:creationId xmlns:a16="http://schemas.microsoft.com/office/drawing/2014/main" id="{F6508FA9-0214-BBE6-F10B-4D5E7CEF5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810" y="1909628"/>
            <a:ext cx="2890971" cy="28909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0;p2">
            <a:extLst>
              <a:ext uri="{FF2B5EF4-FFF2-40B4-BE49-F238E27FC236}">
                <a16:creationId xmlns:a16="http://schemas.microsoft.com/office/drawing/2014/main" id="{C149282B-5ED8-88B8-82D7-AEE244A0C827}"/>
              </a:ext>
            </a:extLst>
          </p:cNvPr>
          <p:cNvSpPr txBox="1"/>
          <p:nvPr/>
        </p:nvSpPr>
        <p:spPr>
          <a:xfrm>
            <a:off x="2682274" y="839427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¿Qué es Ionic y por qué es relevante?</a:t>
            </a:r>
            <a:endParaRPr sz="2800" i="0" u="none" strike="noStrik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1;p2">
            <a:extLst>
              <a:ext uri="{FF2B5EF4-FFF2-40B4-BE49-F238E27FC236}">
                <a16:creationId xmlns:a16="http://schemas.microsoft.com/office/drawing/2014/main" id="{543B3A2B-2638-7FCE-3600-09F963F68C22}"/>
              </a:ext>
            </a:extLst>
          </p:cNvPr>
          <p:cNvSpPr txBox="1"/>
          <p:nvPr/>
        </p:nvSpPr>
        <p:spPr>
          <a:xfrm>
            <a:off x="857998" y="1778554"/>
            <a:ext cx="6931335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s-ES" sz="1600" dirty="0">
                <a:highlight>
                  <a:srgbClr val="FFFFFF"/>
                </a:highlight>
              </a:rPr>
              <a:t>Ionic es un </a:t>
            </a:r>
            <a:r>
              <a:rPr lang="es-ES" sz="1600" b="1" dirty="0" err="1">
                <a:highlight>
                  <a:srgbClr val="FFFFFF"/>
                </a:highlight>
              </a:rPr>
              <a:t>framework</a:t>
            </a:r>
            <a:r>
              <a:rPr lang="es-ES" sz="1600" b="1" dirty="0">
                <a:highlight>
                  <a:srgbClr val="FFFFFF"/>
                </a:highlight>
              </a:rPr>
              <a:t> de UI (interfaz de usuario)</a:t>
            </a:r>
            <a:r>
              <a:rPr lang="es-ES" sz="1600" dirty="0">
                <a:highlight>
                  <a:srgbClr val="FFFFFF"/>
                </a:highlight>
              </a:rPr>
              <a:t> basado en tecnologías web, que facilita la construcción de apps móviles híbridas.</a:t>
            </a:r>
            <a:br>
              <a:rPr lang="es-ES" sz="1600" dirty="0">
                <a:highlight>
                  <a:srgbClr val="FFFFFF"/>
                </a:highlight>
              </a:rPr>
            </a:br>
            <a:r>
              <a:rPr lang="es-ES" sz="1600" dirty="0">
                <a:highlight>
                  <a:srgbClr val="FFFFFF"/>
                </a:highlight>
              </a:rPr>
              <a:t>Incluye un </a:t>
            </a:r>
            <a:r>
              <a:rPr lang="es-ES" sz="1600" b="1" dirty="0">
                <a:highlight>
                  <a:srgbClr val="FFFFFF"/>
                </a:highlight>
              </a:rPr>
              <a:t>conjunto de componentes listos para usar</a:t>
            </a:r>
            <a:r>
              <a:rPr lang="es-ES" sz="1600" dirty="0">
                <a:highlight>
                  <a:srgbClr val="FFFFFF"/>
                </a:highlight>
              </a:rPr>
              <a:t> (botones, menús, formularios, pestañas, etc.), diseñados para parecerse al estilo nativo de cada plataforma.</a:t>
            </a:r>
          </a:p>
          <a:p>
            <a:pPr algn="just"/>
            <a:endParaRPr lang="es-ES" sz="1600" b="1" dirty="0">
              <a:highlight>
                <a:srgbClr val="FFFFFF"/>
              </a:highlight>
            </a:endParaRPr>
          </a:p>
          <a:p>
            <a:pPr algn="just"/>
            <a:r>
              <a:rPr lang="es-ES" sz="1600" b="1" dirty="0">
                <a:highlight>
                  <a:srgbClr val="FFFFFF"/>
                </a:highlight>
              </a:rPr>
              <a:t>Puntos clave:</a:t>
            </a:r>
            <a:r>
              <a:rPr lang="es-ES" sz="1600" dirty="0">
                <a:highlight>
                  <a:srgbClr val="FFFFFF"/>
                </a:highlight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highlight>
                  <a:srgbClr val="FFFFFF"/>
                </a:highlight>
              </a:rPr>
              <a:t>Usa Web </a:t>
            </a:r>
            <a:r>
              <a:rPr lang="es-ES" sz="1600" dirty="0" err="1">
                <a:highlight>
                  <a:srgbClr val="FFFFFF"/>
                </a:highlight>
              </a:rPr>
              <a:t>Components</a:t>
            </a:r>
            <a:r>
              <a:rPr lang="es-ES" sz="1600" dirty="0">
                <a:highlight>
                  <a:srgbClr val="FFFFFF"/>
                </a:highlight>
              </a:rPr>
              <a:t> → componentes reutilizables y adaptables.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highlight>
                  <a:srgbClr val="FFFFFF"/>
                </a:highlight>
              </a:rPr>
              <a:t>Se integra fácilmente con Angular, </a:t>
            </a:r>
            <a:r>
              <a:rPr lang="es-ES" sz="1600" dirty="0" err="1">
                <a:highlight>
                  <a:srgbClr val="FFFFFF"/>
                </a:highlight>
              </a:rPr>
              <a:t>React</a:t>
            </a:r>
            <a:r>
              <a:rPr lang="es-ES" sz="1600" dirty="0">
                <a:highlight>
                  <a:srgbClr val="FFFFFF"/>
                </a:highlight>
              </a:rPr>
              <a:t> o </a:t>
            </a:r>
            <a:r>
              <a:rPr lang="es-ES" sz="1600" dirty="0" err="1">
                <a:highlight>
                  <a:srgbClr val="FFFFFF"/>
                </a:highlight>
              </a:rPr>
              <a:t>Vue</a:t>
            </a:r>
            <a:r>
              <a:rPr lang="es-ES" sz="1600" dirty="0">
                <a:highlight>
                  <a:srgbClr val="FFFFFF"/>
                </a:highlight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highlight>
                  <a:srgbClr val="FFFFFF"/>
                </a:highlight>
              </a:rPr>
              <a:t>Soporta temas adaptativos → la misma app se ve como Material </a:t>
            </a:r>
            <a:r>
              <a:rPr lang="es-ES" sz="1600" dirty="0" err="1">
                <a:highlight>
                  <a:srgbClr val="FFFFFF"/>
                </a:highlight>
              </a:rPr>
              <a:t>Design</a:t>
            </a:r>
            <a:r>
              <a:rPr lang="es-ES" sz="1600" dirty="0">
                <a:highlight>
                  <a:srgbClr val="FFFFFF"/>
                </a:highlight>
              </a:rPr>
              <a:t> en Android y como iOS Style en iPhone.</a:t>
            </a:r>
          </a:p>
        </p:txBody>
      </p:sp>
      <p:pic>
        <p:nvPicPr>
          <p:cNvPr id="2051" name="Picture 3" descr="DevOps: Ionic Framework Components and Ionic Appflow Suite">
            <a:extLst>
              <a:ext uri="{FF2B5EF4-FFF2-40B4-BE49-F238E27FC236}">
                <a16:creationId xmlns:a16="http://schemas.microsoft.com/office/drawing/2014/main" id="{BA58DDB4-6FB0-C387-4C04-A3E0E85F8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1" y="2284095"/>
            <a:ext cx="3648326" cy="191537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E3EAD5A-9AA0-75AD-08F1-BF751F1A5CC7}"/>
              </a:ext>
            </a:extLst>
          </p:cNvPr>
          <p:cNvSpPr txBox="1"/>
          <p:nvPr/>
        </p:nvSpPr>
        <p:spPr>
          <a:xfrm>
            <a:off x="1056809" y="1659285"/>
            <a:ext cx="536092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F0"/>
                </a:solidFill>
              </a:rPr>
              <a:t>Definición:</a:t>
            </a: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s-ES" sz="1600" dirty="0"/>
              <a:t>Capacitor es el </a:t>
            </a:r>
            <a:r>
              <a:rPr lang="es-ES" sz="1600" dirty="0" err="1"/>
              <a:t>runtime</a:t>
            </a:r>
            <a:r>
              <a:rPr lang="es-ES" sz="1600" dirty="0"/>
              <a:t> oficial de Ionic.</a:t>
            </a: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s-ES" sz="1600" dirty="0"/>
              <a:t>Su papel es ser un puente entre el código web (HTML, JS, CSS) y las funcionalidades nativas del dispositivo.</a:t>
            </a:r>
          </a:p>
          <a:p>
            <a:pPr lvl="4"/>
            <a:endParaRPr lang="es-ES" sz="1600" dirty="0"/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solidFill>
                  <a:srgbClr val="00B050"/>
                </a:solidFill>
              </a:rPr>
              <a:t>Funcionalidades principales:</a:t>
            </a:r>
          </a:p>
          <a:p>
            <a:pPr lvl="4"/>
            <a:endParaRPr lang="es-ES" sz="1600" b="1" dirty="0">
              <a:solidFill>
                <a:srgbClr val="00B050"/>
              </a:solidFill>
            </a:endParaRP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s-ES" sz="1600" dirty="0"/>
              <a:t>Permite acceder a </a:t>
            </a:r>
            <a:r>
              <a:rPr lang="es-ES" sz="1600" dirty="0" err="1"/>
              <a:t>APIs</a:t>
            </a:r>
            <a:r>
              <a:rPr lang="es-ES" sz="1600" dirty="0"/>
              <a:t> </a:t>
            </a:r>
            <a:r>
              <a:rPr lang="es-ES" sz="1600" dirty="0" err="1"/>
              <a:t>naCon</a:t>
            </a:r>
            <a:r>
              <a:rPr lang="es-ES" sz="1600" dirty="0"/>
              <a:t> unas pocas líneas de código web, el desarrollador puede abrir la </a:t>
            </a:r>
            <a:r>
              <a:rPr lang="es-ES" sz="1600" b="1" dirty="0"/>
              <a:t>cámara nativa del </a:t>
            </a:r>
            <a:r>
              <a:rPr lang="es-ES" sz="1600" b="1" dirty="0" err="1"/>
              <a:t>dispositivo</a:t>
            </a:r>
            <a:r>
              <a:rPr lang="es-ES" sz="1600" dirty="0" err="1"/>
              <a:t>.tivas</a:t>
            </a:r>
            <a:r>
              <a:rPr lang="es-ES" sz="1600" dirty="0"/>
              <a:t> (cámara, GPS, almacenamiento, contactos, notificaciones, etc.).</a:t>
            </a: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s-ES" sz="1600" dirty="0"/>
              <a:t>Facilita la integración con librerías nativas de Android (Java/</a:t>
            </a:r>
            <a:r>
              <a:rPr lang="es-ES" sz="1600" dirty="0" err="1"/>
              <a:t>Kotlin</a:t>
            </a:r>
            <a:r>
              <a:rPr lang="es-ES" sz="1600" dirty="0"/>
              <a:t>) e iOS (Swift/</a:t>
            </a:r>
            <a:r>
              <a:rPr lang="es-ES" sz="1600" dirty="0" err="1"/>
              <a:t>Objective</a:t>
            </a:r>
            <a:r>
              <a:rPr lang="es-ES" sz="1600" dirty="0"/>
              <a:t>-C).</a:t>
            </a: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s-ES" sz="1600" dirty="0"/>
              <a:t>Soporta </a:t>
            </a:r>
            <a:r>
              <a:rPr lang="es-ES" sz="1600" dirty="0" err="1"/>
              <a:t>plugins</a:t>
            </a:r>
            <a:r>
              <a:rPr lang="es-ES" sz="1600" dirty="0"/>
              <a:t> oficiales y personalizados.</a:t>
            </a:r>
          </a:p>
          <a:p>
            <a:pPr lvl="4"/>
            <a:endParaRPr lang="es-ES" sz="1600" dirty="0"/>
          </a:p>
        </p:txBody>
      </p:sp>
      <p:sp>
        <p:nvSpPr>
          <p:cNvPr id="2" name="Google Shape;80;p2">
            <a:extLst>
              <a:ext uri="{FF2B5EF4-FFF2-40B4-BE49-F238E27FC236}">
                <a16:creationId xmlns:a16="http://schemas.microsoft.com/office/drawing/2014/main" id="{88CEE491-F163-5FC4-1FC7-1149C385B9CE}"/>
              </a:ext>
            </a:extLst>
          </p:cNvPr>
          <p:cNvSpPr txBox="1"/>
          <p:nvPr/>
        </p:nvSpPr>
        <p:spPr>
          <a:xfrm>
            <a:off x="2538584" y="593893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¿Qué es Capacitor y cuál es su función?</a:t>
            </a:r>
            <a:endParaRPr sz="2800" i="0" u="none" strike="noStrik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FB1B49-5283-CB13-A37E-195F3E7C0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194" y="2339694"/>
            <a:ext cx="4494340" cy="21786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8AABC31-1D98-2C64-459E-A850A46D89C1}"/>
              </a:ext>
            </a:extLst>
          </p:cNvPr>
          <p:cNvSpPr txBox="1"/>
          <p:nvPr/>
        </p:nvSpPr>
        <p:spPr>
          <a:xfrm>
            <a:off x="7054194" y="4677613"/>
            <a:ext cx="45565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F0"/>
                </a:solidFill>
              </a:rPr>
              <a:t>Ejemplo: </a:t>
            </a:r>
            <a:r>
              <a:rPr lang="es-ES" sz="1600" dirty="0"/>
              <a:t>Con unas pocas líneas de código web, el desarrollador puede abrir la cámara nativa del dispositivo.</a:t>
            </a:r>
          </a:p>
          <a:p>
            <a:pPr lvl="4"/>
            <a:endParaRPr lang="es-E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4E1DCA2-8EDA-0C9C-D002-985CDAAD59FA}"/>
              </a:ext>
            </a:extLst>
          </p:cNvPr>
          <p:cNvSpPr txBox="1"/>
          <p:nvPr/>
        </p:nvSpPr>
        <p:spPr>
          <a:xfrm>
            <a:off x="985646" y="1680577"/>
            <a:ext cx="644808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Angular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Framework completo basado en </a:t>
            </a:r>
            <a:r>
              <a:rPr lang="es-ES" sz="1600" dirty="0" err="1"/>
              <a:t>TypeScript</a:t>
            </a:r>
            <a:r>
              <a:rPr lang="es-ES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Buen manejo de proyectos grandes, estructura modular, </a:t>
            </a:r>
            <a:r>
              <a:rPr lang="es-ES" sz="1600" dirty="0" err="1"/>
              <a:t>RxJS</a:t>
            </a:r>
            <a:r>
              <a:rPr lang="es-ES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O" sz="1600" dirty="0"/>
              <a:t>Recomendado si se necesita </a:t>
            </a:r>
            <a:r>
              <a:rPr lang="es-CO" sz="1600" b="1" dirty="0"/>
              <a:t>arquitectura robusta</a:t>
            </a:r>
            <a:r>
              <a:rPr lang="es-CO" sz="1600" dirty="0"/>
              <a:t>.</a:t>
            </a:r>
          </a:p>
          <a:p>
            <a:br>
              <a:rPr lang="es-ES" sz="1600" dirty="0"/>
            </a:br>
            <a:r>
              <a:rPr lang="es-ES" sz="1600" b="1" dirty="0" err="1"/>
              <a:t>React</a:t>
            </a:r>
            <a:endParaRPr lang="es-E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Librería declarativa de UI (JSX).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Rápido aprendizaje, comunidad muy activa.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Recomendado para proyectos donde la </a:t>
            </a:r>
            <a:r>
              <a:rPr lang="es-ES" sz="1600" b="1" dirty="0"/>
              <a:t>interfaz dinámica</a:t>
            </a:r>
            <a:r>
              <a:rPr lang="es-ES" sz="1600" dirty="0"/>
              <a:t> es prioritaria.</a:t>
            </a:r>
          </a:p>
          <a:p>
            <a:br>
              <a:rPr lang="es-ES" sz="1600" dirty="0"/>
            </a:br>
            <a:r>
              <a:rPr lang="es-ES" sz="1600" b="1" dirty="0" err="1"/>
              <a:t>Vue</a:t>
            </a:r>
            <a:endParaRPr lang="es-E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Framework progresivo, muy ligero.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Fácil curva de aprendizaje.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dirty="0"/>
              <a:t>Ideal para proyectos más pequeños o medianos con equipos reducidos.</a:t>
            </a:r>
            <a:br>
              <a:rPr lang="es-ES" sz="1600" dirty="0"/>
            </a:b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600" dirty="0"/>
          </a:p>
        </p:txBody>
      </p:sp>
      <p:pic>
        <p:nvPicPr>
          <p:cNvPr id="4098" name="Picture 2" descr="AngularJS - Wikipedia, la enciclopedia libre">
            <a:extLst>
              <a:ext uri="{FF2B5EF4-FFF2-40B4-BE49-F238E27FC236}">
                <a16:creationId xmlns:a16="http://schemas.microsoft.com/office/drawing/2014/main" id="{650548D6-7C1E-4957-E132-9B9A39DAB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675" y="1680577"/>
            <a:ext cx="1067858" cy="1131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uilding a Web App: Developing a React.js Frontend for an API — Part 4">
            <a:extLst>
              <a:ext uri="{FF2B5EF4-FFF2-40B4-BE49-F238E27FC236}">
                <a16:creationId xmlns:a16="http://schemas.microsoft.com/office/drawing/2014/main" id="{55AAD3ED-244A-50A8-011C-E934BC034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509" y="2866925"/>
            <a:ext cx="1948824" cy="137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Vue.js: a (re)introduction">
            <a:extLst>
              <a:ext uri="{FF2B5EF4-FFF2-40B4-BE49-F238E27FC236}">
                <a16:creationId xmlns:a16="http://schemas.microsoft.com/office/drawing/2014/main" id="{8B40B6B5-29B0-AFB0-41FA-5150262A0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3684" y="4298985"/>
            <a:ext cx="1204384" cy="120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A0C570BC-843C-2674-BB3A-5860AE415CCA}"/>
              </a:ext>
            </a:extLst>
          </p:cNvPr>
          <p:cNvSpPr txBox="1"/>
          <p:nvPr/>
        </p:nvSpPr>
        <p:spPr>
          <a:xfrm>
            <a:off x="2228943" y="599510"/>
            <a:ext cx="586836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Frameworks compatibles: Angular, </a:t>
            </a:r>
            <a:r>
              <a:rPr lang="es-ES" sz="2800" i="0" u="none" strike="noStrike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React</a:t>
            </a: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s-ES" sz="2800" i="0" u="none" strike="noStrike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Vue</a:t>
            </a:r>
            <a:endParaRPr lang="es-ES" sz="2800" i="0" u="none" strike="noStrik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4634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223E-467F-2931-C3F2-EDF0C2EE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9656D7BE-0AB4-C51B-B682-0A31611B3518}"/>
              </a:ext>
            </a:extLst>
          </p:cNvPr>
          <p:cNvSpPr txBox="1"/>
          <p:nvPr/>
        </p:nvSpPr>
        <p:spPr>
          <a:xfrm>
            <a:off x="2085009" y="863598"/>
            <a:ext cx="6898123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Beneficios de adoptar el enfoque híbrido con Ionic y Capacitor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ADF4C18-A160-E09B-A9EB-A6D4E3D30E89}"/>
              </a:ext>
            </a:extLst>
          </p:cNvPr>
          <p:cNvSpPr/>
          <p:nvPr/>
        </p:nvSpPr>
        <p:spPr>
          <a:xfrm>
            <a:off x="821267" y="2489199"/>
            <a:ext cx="4623594" cy="5164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Desarrollo ágil: </a:t>
            </a:r>
            <a:r>
              <a:rPr lang="es-ES" dirty="0"/>
              <a:t>Un solo código → múltiples plataformas.</a:t>
            </a:r>
            <a:endParaRPr lang="es-CO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7809569-0493-774E-8014-8EFFBA5D89E5}"/>
              </a:ext>
            </a:extLst>
          </p:cNvPr>
          <p:cNvSpPr/>
          <p:nvPr/>
        </p:nvSpPr>
        <p:spPr>
          <a:xfrm>
            <a:off x="821268" y="3324497"/>
            <a:ext cx="4623594" cy="756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Reducción de costos: </a:t>
            </a:r>
            <a:r>
              <a:rPr lang="es-ES" dirty="0"/>
              <a:t>Menos tiempo de desarrollo y menos recursos humanos especializados en cada plataforma.</a:t>
            </a:r>
            <a:endParaRPr lang="es-CO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0C91B76-D31B-5446-CE69-5D89BC47D490}"/>
              </a:ext>
            </a:extLst>
          </p:cNvPr>
          <p:cNvSpPr/>
          <p:nvPr/>
        </p:nvSpPr>
        <p:spPr>
          <a:xfrm>
            <a:off x="822061" y="4399764"/>
            <a:ext cx="4622800" cy="756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Acceso a </a:t>
            </a:r>
            <a:r>
              <a:rPr lang="es-CO" dirty="0" err="1"/>
              <a:t>APIs</a:t>
            </a:r>
            <a:r>
              <a:rPr lang="es-CO" dirty="0"/>
              <a:t> nativas: </a:t>
            </a:r>
            <a:r>
              <a:rPr lang="es-ES" dirty="0"/>
              <a:t>Gracias a Capacitor, se puede acceder al GPS, cámara, almacenamiento, notificaciones, etc.</a:t>
            </a:r>
            <a:endParaRPr lang="es-CO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4F6D229-6918-982A-EAA8-99A5E4D9A99F}"/>
              </a:ext>
            </a:extLst>
          </p:cNvPr>
          <p:cNvSpPr/>
          <p:nvPr/>
        </p:nvSpPr>
        <p:spPr>
          <a:xfrm>
            <a:off x="6908800" y="2489199"/>
            <a:ext cx="4301067" cy="5164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Experiencia de usuario fluida: Ionic proporciona componentes adaptativos que se sienten “nativos”.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5E98C55-B22F-767C-00E3-B42FE744483C}"/>
              </a:ext>
            </a:extLst>
          </p:cNvPr>
          <p:cNvSpPr/>
          <p:nvPr/>
        </p:nvSpPr>
        <p:spPr>
          <a:xfrm>
            <a:off x="6908800" y="3324497"/>
            <a:ext cx="4301067" cy="756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Integración con el ecosistema web: Se pueden usar librerías JavaScript/</a:t>
            </a:r>
            <a:r>
              <a:rPr lang="es-ES" dirty="0" err="1"/>
              <a:t>TypeScript</a:t>
            </a:r>
            <a:r>
              <a:rPr lang="es-ES" dirty="0"/>
              <a:t> populares (Axios, D3, </a:t>
            </a:r>
            <a:r>
              <a:rPr lang="es-ES" dirty="0" err="1"/>
              <a:t>Firebase</a:t>
            </a:r>
            <a:r>
              <a:rPr lang="es-ES" dirty="0"/>
              <a:t> SDK, etc.).</a:t>
            </a:r>
            <a:endParaRPr lang="es-CO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24C3D98-1139-B134-DECC-A95C22990DED}"/>
              </a:ext>
            </a:extLst>
          </p:cNvPr>
          <p:cNvSpPr/>
          <p:nvPr/>
        </p:nvSpPr>
        <p:spPr>
          <a:xfrm>
            <a:off x="6908800" y="4399764"/>
            <a:ext cx="4301067" cy="756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Actualización rápida: </a:t>
            </a:r>
            <a:r>
              <a:rPr lang="es-ES" dirty="0"/>
              <a:t>Cambios en el </a:t>
            </a:r>
            <a:r>
              <a:rPr lang="es-ES" dirty="0" err="1"/>
              <a:t>frontend</a:t>
            </a:r>
            <a:r>
              <a:rPr lang="es-ES" dirty="0"/>
              <a:t> se despliegan sin necesidad de reescribir para Android e iOS por separado.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8627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CDB7BA5-A7C7-43A8-F8BE-E26FD80C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C6184BE4-91A9-31ED-2E6C-F366F332C204}"/>
              </a:ext>
            </a:extLst>
          </p:cNvPr>
          <p:cNvSpPr txBox="1"/>
          <p:nvPr/>
        </p:nvSpPr>
        <p:spPr>
          <a:xfrm>
            <a:off x="439838" y="706056"/>
            <a:ext cx="4109013" cy="446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Aplicar los fundamentos esenciales del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seleccionado (Angular,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Vue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 en un proyecto con Ionic, comprendiendo la estructura, componentes, módulos, data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binding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directivas específicas del entorno</a:t>
            </a:r>
            <a:endParaRPr lang="es-ES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Imagen que contiene calle, firmar, estacionamiento, computadora&#10;&#10;El contenido generado por IA puede ser incorrecto.">
            <a:extLst>
              <a:ext uri="{FF2B5EF4-FFF2-40B4-BE49-F238E27FC236}">
                <a16:creationId xmlns:a16="http://schemas.microsoft.com/office/drawing/2014/main" id="{37FC8292-1117-6F57-2FA5-02BAEBC80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133" y="169333"/>
            <a:ext cx="6781800" cy="654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3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B689-0978-318C-FCE1-0F33BA2F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76BC0E3-BB20-F914-F8D1-BD75426B6ACF}"/>
              </a:ext>
            </a:extLst>
          </p:cNvPr>
          <p:cNvSpPr txBox="1"/>
          <p:nvPr/>
        </p:nvSpPr>
        <p:spPr>
          <a:xfrm>
            <a:off x="1332779" y="1765243"/>
            <a:ext cx="972468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Cuando creas un proyecto (</a:t>
            </a:r>
            <a:r>
              <a:rPr lang="es-ES" sz="1600" b="1" dirty="0" err="1"/>
              <a:t>ionic</a:t>
            </a:r>
            <a:r>
              <a:rPr lang="es-ES" sz="1600" b="1" dirty="0"/>
              <a:t> </a:t>
            </a:r>
            <a:r>
              <a:rPr lang="es-ES" sz="1600" b="1" dirty="0" err="1"/>
              <a:t>start</a:t>
            </a:r>
            <a:r>
              <a:rPr lang="es-ES" sz="1600" b="1" dirty="0"/>
              <a:t> myApp tabs), se genera una estructura básica:</a:t>
            </a:r>
          </a:p>
          <a:p>
            <a:br>
              <a:rPr lang="es-ES" sz="1600" dirty="0"/>
            </a:b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600" dirty="0"/>
          </a:p>
        </p:txBody>
      </p:sp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64E3F32F-29B6-AE4D-1059-5930D9810122}"/>
              </a:ext>
            </a:extLst>
          </p:cNvPr>
          <p:cNvSpPr txBox="1"/>
          <p:nvPr/>
        </p:nvSpPr>
        <p:spPr>
          <a:xfrm>
            <a:off x="2228943" y="794243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Anatomía de un proyecto Ionic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6BB921-245B-D97E-68AB-4DE029A1E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707" y="2599854"/>
            <a:ext cx="6171294" cy="257756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5710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D3E6-5858-1CBC-2144-C89F7F32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6597785B-87FF-D401-227D-C76952EA5076}"/>
              </a:ext>
            </a:extLst>
          </p:cNvPr>
          <p:cNvSpPr txBox="1"/>
          <p:nvPr/>
        </p:nvSpPr>
        <p:spPr>
          <a:xfrm>
            <a:off x="2618410" y="774488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Organización modular del código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D33A69-0B43-4222-998A-DD9F5B8A7129}"/>
              </a:ext>
            </a:extLst>
          </p:cNvPr>
          <p:cNvSpPr txBox="1"/>
          <p:nvPr/>
        </p:nvSpPr>
        <p:spPr>
          <a:xfrm>
            <a:off x="1056809" y="1578504"/>
            <a:ext cx="87052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F0"/>
                </a:solidFill>
              </a:rPr>
              <a:t>Módulos:</a:t>
            </a: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s-ES" sz="1600" dirty="0"/>
              <a:t>En Angular, cada módulo agrupa páginas, componentes y servicios relacionados.</a:t>
            </a:r>
          </a:p>
          <a:p>
            <a:pPr lvl="4"/>
            <a:endParaRPr lang="es-ES" sz="1600" dirty="0"/>
          </a:p>
          <a:p>
            <a:pPr lvl="4"/>
            <a:r>
              <a:rPr lang="es-ES" sz="1600" b="1" dirty="0">
                <a:solidFill>
                  <a:srgbClr val="00B050"/>
                </a:solidFill>
              </a:rPr>
              <a:t>Beneficio:</a:t>
            </a:r>
          </a:p>
          <a:p>
            <a:pPr marL="285750" lvl="4" indent="-285750">
              <a:buFont typeface="Wingdings" panose="05000000000000000000" pitchFamily="2" charset="2"/>
              <a:buChar char="Ø"/>
            </a:pPr>
            <a:r>
              <a:rPr lang="es-ES" sz="1600" dirty="0"/>
              <a:t>mejora la escalabilidad y separación de responsabilidades.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AEF5832-9BAF-2B58-42E2-BFF5DFC37C00}"/>
              </a:ext>
            </a:extLst>
          </p:cNvPr>
          <p:cNvSpPr txBox="1"/>
          <p:nvPr/>
        </p:nvSpPr>
        <p:spPr>
          <a:xfrm>
            <a:off x="5633267" y="549505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00B050"/>
                </a:solidFill>
              </a:rPr>
              <a:t>Recomendación: </a:t>
            </a:r>
            <a:r>
              <a:rPr lang="es-ES" dirty="0"/>
              <a:t>usar un </a:t>
            </a:r>
            <a:r>
              <a:rPr lang="es-ES" b="1" dirty="0" err="1"/>
              <a:t>SharedModule</a:t>
            </a:r>
            <a:r>
              <a:rPr lang="es-ES" dirty="0"/>
              <a:t> para centralizar pipes, directivas y componentes comunes.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B628020-DE0C-DEAC-6C66-0B12CF003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843" y="3714003"/>
            <a:ext cx="6973273" cy="16099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CDC3205-E81D-C32F-A235-EAFBCF9DD96C}"/>
              </a:ext>
            </a:extLst>
          </p:cNvPr>
          <p:cNvSpPr txBox="1"/>
          <p:nvPr/>
        </p:nvSpPr>
        <p:spPr>
          <a:xfrm>
            <a:off x="9286513" y="327511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>
                <a:solidFill>
                  <a:srgbClr val="00B050"/>
                </a:solidFill>
              </a:rPr>
              <a:t>Ejemplo: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80729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52D6C-0B2C-1D3C-529B-313E6C8E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ECB64C9-0161-9857-0361-1CB4466DAF18}"/>
              </a:ext>
            </a:extLst>
          </p:cNvPr>
          <p:cNvSpPr txBox="1"/>
          <p:nvPr/>
        </p:nvSpPr>
        <p:spPr>
          <a:xfrm>
            <a:off x="1696845" y="1626743"/>
            <a:ext cx="972468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Ionic soporta navegación basada en enrutadores (</a:t>
            </a:r>
            <a:r>
              <a:rPr lang="es-ES" sz="1600" b="1" dirty="0" err="1"/>
              <a:t>RouterModule</a:t>
            </a:r>
            <a:r>
              <a:rPr lang="es-ES" sz="1600" b="1" dirty="0"/>
              <a:t> de Angular).</a:t>
            </a:r>
            <a:br>
              <a:rPr lang="es-ES" sz="1600" dirty="0"/>
            </a:b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600" dirty="0"/>
          </a:p>
        </p:txBody>
      </p:sp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3F7DF98A-1F02-CF5E-6A70-63F8CB6FD2BB}"/>
              </a:ext>
            </a:extLst>
          </p:cNvPr>
          <p:cNvSpPr txBox="1"/>
          <p:nvPr/>
        </p:nvSpPr>
        <p:spPr>
          <a:xfrm>
            <a:off x="2601476" y="824758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Navegación y rutas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40D6E49-7F1C-6FF2-E3E8-6FA441045756}"/>
              </a:ext>
            </a:extLst>
          </p:cNvPr>
          <p:cNvSpPr txBox="1"/>
          <p:nvPr/>
        </p:nvSpPr>
        <p:spPr>
          <a:xfrm>
            <a:off x="1136122" y="247312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Rutas básicas (Angular):</a:t>
            </a:r>
            <a:endParaRPr lang="es-CO" sz="16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A3ECE8-5E6E-1415-7F44-95ECB1DDA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55" y="2962728"/>
            <a:ext cx="10536120" cy="11336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DBDC115-34B6-8794-AFF3-7B7EEF11262E}"/>
              </a:ext>
            </a:extLst>
          </p:cNvPr>
          <p:cNvSpPr txBox="1"/>
          <p:nvPr/>
        </p:nvSpPr>
        <p:spPr>
          <a:xfrm>
            <a:off x="1136122" y="4737005"/>
            <a:ext cx="97246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Stack</a:t>
            </a:r>
            <a:r>
              <a:rPr lang="es-ES" sz="1600" b="1" dirty="0"/>
              <a:t> </a:t>
            </a:r>
            <a:r>
              <a:rPr lang="es-ES" sz="1600" b="1" dirty="0" err="1"/>
              <a:t>navigation</a:t>
            </a:r>
            <a:r>
              <a:rPr lang="es-ES" sz="1600" b="1" dirty="0"/>
              <a:t>: </a:t>
            </a:r>
            <a:r>
              <a:rPr lang="es-ES" sz="1600" b="1" dirty="0" err="1"/>
              <a:t>push</a:t>
            </a:r>
            <a:r>
              <a:rPr lang="es-ES" sz="1600" b="1" dirty="0"/>
              <a:t>/pop (similar a apps nativas).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Tab</a:t>
            </a:r>
            <a:r>
              <a:rPr lang="es-ES" sz="1600" b="1" dirty="0"/>
              <a:t> </a:t>
            </a:r>
            <a:r>
              <a:rPr lang="es-ES" sz="1600" b="1" dirty="0" err="1"/>
              <a:t>navigation</a:t>
            </a:r>
            <a:r>
              <a:rPr lang="es-ES" sz="1600" b="1" dirty="0"/>
              <a:t>: menú inferior con pestañas.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 err="1"/>
              <a:t>Side</a:t>
            </a:r>
            <a:r>
              <a:rPr lang="es-ES" sz="1600" b="1" dirty="0"/>
              <a:t> </a:t>
            </a:r>
            <a:r>
              <a:rPr lang="es-ES" sz="1600" b="1" dirty="0" err="1"/>
              <a:t>menu</a:t>
            </a:r>
            <a:r>
              <a:rPr lang="es-ES" sz="1600" b="1" dirty="0"/>
              <a:t> </a:t>
            </a:r>
            <a:r>
              <a:rPr lang="es-ES" sz="1600" b="1" dirty="0" err="1"/>
              <a:t>navigation</a:t>
            </a:r>
            <a:r>
              <a:rPr lang="es-ES" sz="1600" b="1" dirty="0"/>
              <a:t>: menú lateral deslizable.</a:t>
            </a:r>
            <a:endParaRPr lang="es-ES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BC9806-5EFE-7D6C-D301-8916104F33B7}"/>
              </a:ext>
            </a:extLst>
          </p:cNvPr>
          <p:cNvSpPr txBox="1"/>
          <p:nvPr/>
        </p:nvSpPr>
        <p:spPr>
          <a:xfrm>
            <a:off x="1136122" y="424740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Tipos de navegación: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608436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F66A8-F640-F512-8354-D4E22312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F6E079FB-24E7-5BE5-2EA8-25C714215D7F}"/>
              </a:ext>
            </a:extLst>
          </p:cNvPr>
          <p:cNvSpPr txBox="1"/>
          <p:nvPr/>
        </p:nvSpPr>
        <p:spPr>
          <a:xfrm>
            <a:off x="2601476" y="824758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Componentes y </a:t>
            </a:r>
            <a:r>
              <a:rPr lang="es-ES" sz="2800" i="0" u="none" strike="noStrike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Lazy</a:t>
            </a: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800" i="0" u="none" strike="noStrike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Loading</a:t>
            </a:r>
            <a:endParaRPr lang="es-ES" sz="2800" i="0" u="none" strike="noStrik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A8766B0-D456-9723-C72D-1D70494FA920}"/>
              </a:ext>
            </a:extLst>
          </p:cNvPr>
          <p:cNvSpPr txBox="1"/>
          <p:nvPr/>
        </p:nvSpPr>
        <p:spPr>
          <a:xfrm>
            <a:off x="1000655" y="1696194"/>
            <a:ext cx="106494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Componentes Ionic: </a:t>
            </a:r>
            <a:r>
              <a:rPr lang="es-ES" sz="1600" dirty="0"/>
              <a:t>Son bloques reutilizables que encapsulan UI + lógica → botones, formularios, listas, modales, etc.</a:t>
            </a:r>
            <a:endParaRPr lang="es-CO" sz="16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BEEF978-DAB4-1E58-ACC1-1AB29F8DC628}"/>
              </a:ext>
            </a:extLst>
          </p:cNvPr>
          <p:cNvSpPr txBox="1"/>
          <p:nvPr/>
        </p:nvSpPr>
        <p:spPr>
          <a:xfrm>
            <a:off x="1000655" y="243201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Ejemplo:</a:t>
            </a:r>
            <a:endParaRPr lang="es-CO" sz="1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A9AC21D-7BB4-3577-D933-3BA28BAB4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877" y="2513904"/>
            <a:ext cx="7297168" cy="16290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7600A21-8580-7437-A6CB-8EC5ECA64F81}"/>
              </a:ext>
            </a:extLst>
          </p:cNvPr>
          <p:cNvSpPr txBox="1"/>
          <p:nvPr/>
        </p:nvSpPr>
        <p:spPr>
          <a:xfrm>
            <a:off x="925799" y="4476006"/>
            <a:ext cx="106494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 err="1">
                <a:solidFill>
                  <a:srgbClr val="00B050"/>
                </a:solidFill>
              </a:rPr>
              <a:t>Lazy</a:t>
            </a:r>
            <a:r>
              <a:rPr lang="es-ES" sz="1600" b="1" dirty="0">
                <a:solidFill>
                  <a:srgbClr val="00B050"/>
                </a:solidFill>
              </a:rPr>
              <a:t> </a:t>
            </a:r>
            <a:r>
              <a:rPr lang="es-ES" sz="1600" b="1" dirty="0" err="1">
                <a:solidFill>
                  <a:srgbClr val="00B050"/>
                </a:solidFill>
              </a:rPr>
              <a:t>Loading</a:t>
            </a:r>
            <a:r>
              <a:rPr lang="es-ES" sz="1600" b="1" dirty="0">
                <a:solidFill>
                  <a:srgbClr val="00B050"/>
                </a:solidFill>
              </a:rPr>
              <a:t>: </a:t>
            </a:r>
            <a:r>
              <a:rPr lang="es-ES" sz="1600" dirty="0"/>
              <a:t>Permite que cada página/módulo se cargue bajo demanda en lugar de cargar toda la app desde el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Ventaja: mejor tiempo de arranque.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Implementación: usar </a:t>
            </a:r>
            <a:r>
              <a:rPr lang="es-ES" sz="1600" dirty="0" err="1"/>
              <a:t>loadChildren</a:t>
            </a:r>
            <a:r>
              <a:rPr lang="es-ES" sz="1600" dirty="0"/>
              <a:t> en las rutas.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612705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4355E-0F9A-2F69-E929-2437AD1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B9326F6C-6293-267B-A8A0-552D84A33B08}"/>
              </a:ext>
            </a:extLst>
          </p:cNvPr>
          <p:cNvSpPr txBox="1"/>
          <p:nvPr/>
        </p:nvSpPr>
        <p:spPr>
          <a:xfrm>
            <a:off x="2085009" y="863598"/>
            <a:ext cx="68981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Principios de </a:t>
            </a:r>
            <a:r>
              <a:rPr lang="es-ES" sz="2800" i="0" u="none" strike="noStrike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Clean</a:t>
            </a: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800" i="0" u="none" strike="noStrike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Code</a:t>
            </a: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 en proyectos móviles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1016F4A-3D86-7EC3-B933-1F58DF80978C}"/>
              </a:ext>
            </a:extLst>
          </p:cNvPr>
          <p:cNvSpPr/>
          <p:nvPr/>
        </p:nvSpPr>
        <p:spPr>
          <a:xfrm>
            <a:off x="821267" y="2489199"/>
            <a:ext cx="4623594" cy="756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Nombres claros: </a:t>
            </a:r>
            <a:r>
              <a:rPr lang="es-ES" dirty="0"/>
              <a:t>variables, clases y funciones deben expresar su intención (</a:t>
            </a:r>
            <a:r>
              <a:rPr lang="es-ES" dirty="0" err="1"/>
              <a:t>getUserProfile</a:t>
            </a:r>
            <a:r>
              <a:rPr lang="es-ES" dirty="0"/>
              <a:t>() mejor que </a:t>
            </a:r>
            <a:r>
              <a:rPr lang="es-ES" dirty="0" err="1"/>
              <a:t>getData</a:t>
            </a:r>
            <a:r>
              <a:rPr lang="es-ES" dirty="0"/>
              <a:t>()).</a:t>
            </a:r>
            <a:endParaRPr lang="es-CO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D9C82ED-6EE4-368E-B71C-2EE50BC09B1C}"/>
              </a:ext>
            </a:extLst>
          </p:cNvPr>
          <p:cNvSpPr/>
          <p:nvPr/>
        </p:nvSpPr>
        <p:spPr>
          <a:xfrm>
            <a:off x="821267" y="3479800"/>
            <a:ext cx="4623594" cy="541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Evitar duplicación: </a:t>
            </a:r>
            <a:r>
              <a:rPr lang="es-ES" dirty="0"/>
              <a:t>mover lógica repetida a servicios o </a:t>
            </a:r>
            <a:r>
              <a:rPr lang="es-ES" dirty="0" err="1"/>
              <a:t>helpers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B7F9EF1F-F108-AF6A-181A-C1C04E7BF7E8}"/>
              </a:ext>
            </a:extLst>
          </p:cNvPr>
          <p:cNvSpPr/>
          <p:nvPr/>
        </p:nvSpPr>
        <p:spPr>
          <a:xfrm>
            <a:off x="822061" y="4255832"/>
            <a:ext cx="4622800" cy="4770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Comentarios útiles: </a:t>
            </a:r>
            <a:r>
              <a:rPr lang="es-ES" dirty="0"/>
              <a:t>explicar el “por qué”, no el “qué”.</a:t>
            </a:r>
            <a:endParaRPr lang="es-CO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E228BFF-9481-1F20-DFDB-D94410FE3CB8}"/>
              </a:ext>
            </a:extLst>
          </p:cNvPr>
          <p:cNvSpPr/>
          <p:nvPr/>
        </p:nvSpPr>
        <p:spPr>
          <a:xfrm>
            <a:off x="821267" y="4967032"/>
            <a:ext cx="4622800" cy="494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Funciones pequeñas: </a:t>
            </a:r>
            <a:r>
              <a:rPr lang="es-ES" dirty="0"/>
              <a:t>una función debe hacer una sola cosa.</a:t>
            </a:r>
            <a:endParaRPr lang="es-CO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4B99EFB2-8085-32B8-E1BD-0F4752CBA2A9}"/>
              </a:ext>
            </a:extLst>
          </p:cNvPr>
          <p:cNvSpPr/>
          <p:nvPr/>
        </p:nvSpPr>
        <p:spPr>
          <a:xfrm>
            <a:off x="821267" y="5650165"/>
            <a:ext cx="4622800" cy="494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Consistencia en estilos: usar </a:t>
            </a:r>
            <a:r>
              <a:rPr lang="es-ES" dirty="0" err="1"/>
              <a:t>linters</a:t>
            </a:r>
            <a:r>
              <a:rPr lang="es-ES" dirty="0"/>
              <a:t> y </a:t>
            </a:r>
            <a:r>
              <a:rPr lang="es-ES" dirty="0" err="1"/>
              <a:t>formatters</a:t>
            </a:r>
            <a:r>
              <a:rPr lang="es-ES" dirty="0"/>
              <a:t> (</a:t>
            </a:r>
            <a:r>
              <a:rPr lang="es-ES" dirty="0" err="1"/>
              <a:t>ESLint</a:t>
            </a:r>
            <a:r>
              <a:rPr lang="es-ES" dirty="0"/>
              <a:t>, </a:t>
            </a:r>
            <a:r>
              <a:rPr lang="es-ES" dirty="0" err="1"/>
              <a:t>Prettier</a:t>
            </a:r>
            <a:r>
              <a:rPr lang="es-ES" dirty="0"/>
              <a:t>).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39A6DC-5262-A235-5294-3CD8AFBE9CB9}"/>
              </a:ext>
            </a:extLst>
          </p:cNvPr>
          <p:cNvSpPr txBox="1"/>
          <p:nvPr/>
        </p:nvSpPr>
        <p:spPr>
          <a:xfrm>
            <a:off x="1007532" y="1745273"/>
            <a:ext cx="8170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Aplicar </a:t>
            </a:r>
            <a:r>
              <a:rPr lang="es-ES" sz="1600" b="1" dirty="0" err="1"/>
              <a:t>Clean</a:t>
            </a:r>
            <a:r>
              <a:rPr lang="es-ES" sz="1600" b="1" dirty="0"/>
              <a:t> </a:t>
            </a:r>
            <a:r>
              <a:rPr lang="es-ES" sz="1600" b="1" dirty="0" err="1"/>
              <a:t>Code</a:t>
            </a:r>
            <a:r>
              <a:rPr lang="es-ES" sz="1600" dirty="0"/>
              <a:t> mejora la legibilidad, mantenibilidad y escalabilidad:</a:t>
            </a:r>
            <a:endParaRPr lang="es-CO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88CA9A-D77A-AF87-BCD4-AD1E12CCB08E}"/>
              </a:ext>
            </a:extLst>
          </p:cNvPr>
          <p:cNvSpPr txBox="1"/>
          <p:nvPr/>
        </p:nvSpPr>
        <p:spPr>
          <a:xfrm>
            <a:off x="6748729" y="3697719"/>
            <a:ext cx="30734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Ejemplo bueno: ✅</a:t>
            </a:r>
            <a:endParaRPr lang="es-CO" sz="16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E77FBE1-FF1C-08D4-7441-ED079A2B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399" y="2898329"/>
            <a:ext cx="4058216" cy="5430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EA64E23-5A04-81A7-B4D4-D24F9F790657}"/>
              </a:ext>
            </a:extLst>
          </p:cNvPr>
          <p:cNvSpPr txBox="1"/>
          <p:nvPr/>
        </p:nvSpPr>
        <p:spPr>
          <a:xfrm>
            <a:off x="6748729" y="2528863"/>
            <a:ext cx="30734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Ejemplo malo: ❌</a:t>
            </a:r>
            <a:endParaRPr lang="es-CO" sz="160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4491A735-39A8-3DE5-280A-E111F03ED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399" y="4255832"/>
            <a:ext cx="4058216" cy="7733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51656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C0CA-A17B-BE56-7175-8F38ABB6A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1D038023-B195-E689-372A-8B09B59085C3}"/>
              </a:ext>
            </a:extLst>
          </p:cNvPr>
          <p:cNvSpPr txBox="1"/>
          <p:nvPr/>
        </p:nvSpPr>
        <p:spPr>
          <a:xfrm>
            <a:off x="2085009" y="863598"/>
            <a:ext cx="689812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Buenas prácticas para escalar la arquitectura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5926DE2-E3EE-0BC7-55E9-E9FAC0CC6E61}"/>
              </a:ext>
            </a:extLst>
          </p:cNvPr>
          <p:cNvSpPr/>
          <p:nvPr/>
        </p:nvSpPr>
        <p:spPr>
          <a:xfrm>
            <a:off x="821267" y="2489198"/>
            <a:ext cx="4623594" cy="9906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Separar capas de responsabilidad: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UI (componentes) → muestra datos.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Servicios → lógica de negocio.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Providers</a:t>
            </a:r>
            <a:r>
              <a:rPr lang="es-ES" dirty="0"/>
              <a:t>/</a:t>
            </a:r>
            <a:r>
              <a:rPr lang="es-ES" dirty="0" err="1"/>
              <a:t>APIs</a:t>
            </a:r>
            <a:r>
              <a:rPr lang="es-ES" dirty="0"/>
              <a:t> → comunicación con </a:t>
            </a:r>
            <a:r>
              <a:rPr lang="es-ES" dirty="0" err="1"/>
              <a:t>backend</a:t>
            </a:r>
            <a:r>
              <a:rPr lang="es-ES" dirty="0"/>
              <a:t>.</a:t>
            </a:r>
            <a:endParaRPr lang="es-CO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803F9C9-AB49-D50E-D6B0-0A864AA0FAD3}"/>
              </a:ext>
            </a:extLst>
          </p:cNvPr>
          <p:cNvSpPr/>
          <p:nvPr/>
        </p:nvSpPr>
        <p:spPr>
          <a:xfrm>
            <a:off x="6443133" y="2526931"/>
            <a:ext cx="4622800" cy="4770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Uso de interfaces y tipado fuerte (</a:t>
            </a:r>
            <a:r>
              <a:rPr lang="es-ES" dirty="0" err="1"/>
              <a:t>TypeScript</a:t>
            </a:r>
            <a:r>
              <a:rPr lang="es-ES" dirty="0"/>
              <a:t>).</a:t>
            </a:r>
            <a:endParaRPr lang="es-CO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8A91B8B-BFE7-D291-47DD-1F15686E597E}"/>
              </a:ext>
            </a:extLst>
          </p:cNvPr>
          <p:cNvSpPr/>
          <p:nvPr/>
        </p:nvSpPr>
        <p:spPr>
          <a:xfrm>
            <a:off x="6443133" y="3896368"/>
            <a:ext cx="4622800" cy="494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Carpetas bien organizadas (modularidad).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7EEFD60-2F61-554E-3CA3-5E9AB9411503}"/>
              </a:ext>
            </a:extLst>
          </p:cNvPr>
          <p:cNvSpPr/>
          <p:nvPr/>
        </p:nvSpPr>
        <p:spPr>
          <a:xfrm>
            <a:off x="821267" y="3919755"/>
            <a:ext cx="4622800" cy="494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Gestión de estado (</a:t>
            </a:r>
            <a:r>
              <a:rPr lang="es-ES" dirty="0" err="1"/>
              <a:t>NgRx</a:t>
            </a:r>
            <a:r>
              <a:rPr lang="es-ES" dirty="0"/>
              <a:t>, </a:t>
            </a:r>
            <a:r>
              <a:rPr lang="es-ES" dirty="0" err="1"/>
              <a:t>Context</a:t>
            </a:r>
            <a:r>
              <a:rPr lang="es-ES" dirty="0"/>
              <a:t> API, </a:t>
            </a:r>
            <a:r>
              <a:rPr lang="es-ES" dirty="0" err="1"/>
              <a:t>Pinia</a:t>
            </a:r>
            <a:r>
              <a:rPr lang="es-ES" dirty="0"/>
              <a:t>, etc.) para apps grandes.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C37498-D6B1-E427-22F2-518D2CA54B6C}"/>
              </a:ext>
            </a:extLst>
          </p:cNvPr>
          <p:cNvSpPr txBox="1"/>
          <p:nvPr/>
        </p:nvSpPr>
        <p:spPr>
          <a:xfrm>
            <a:off x="1007532" y="1745273"/>
            <a:ext cx="8170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Aplicar </a:t>
            </a:r>
            <a:r>
              <a:rPr lang="es-ES" sz="1600" b="1" dirty="0" err="1"/>
              <a:t>Clean</a:t>
            </a:r>
            <a:r>
              <a:rPr lang="es-ES" sz="1600" b="1" dirty="0"/>
              <a:t> </a:t>
            </a:r>
            <a:r>
              <a:rPr lang="es-ES" sz="1600" b="1" dirty="0" err="1"/>
              <a:t>Code</a:t>
            </a:r>
            <a:r>
              <a:rPr lang="es-ES" sz="1600" dirty="0"/>
              <a:t> mejora la legibilidad, mantenibilidad y escalabilidad:</a:t>
            </a:r>
            <a:endParaRPr lang="es-CO" sz="1600" dirty="0"/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0018369-7E22-0921-3360-50BF8013EDA1}"/>
              </a:ext>
            </a:extLst>
          </p:cNvPr>
          <p:cNvSpPr/>
          <p:nvPr/>
        </p:nvSpPr>
        <p:spPr>
          <a:xfrm>
            <a:off x="821267" y="4853915"/>
            <a:ext cx="4622800" cy="494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Plugins</a:t>
            </a:r>
            <a:r>
              <a:rPr lang="es-ES" dirty="0"/>
              <a:t> personalizados de Capacitor si las necesidades nativas crecen.</a:t>
            </a:r>
            <a:endParaRPr lang="es-CO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DEF6BC4-6BC4-E45E-1529-096D198EAC51}"/>
              </a:ext>
            </a:extLst>
          </p:cNvPr>
          <p:cNvSpPr/>
          <p:nvPr/>
        </p:nvSpPr>
        <p:spPr>
          <a:xfrm>
            <a:off x="6443133" y="4853915"/>
            <a:ext cx="4622800" cy="4942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Automatización de </a:t>
            </a:r>
            <a:r>
              <a:rPr lang="es-CO" dirty="0" err="1"/>
              <a:t>builds</a:t>
            </a:r>
            <a:r>
              <a:rPr lang="es-CO" dirty="0"/>
              <a:t>: CI/CD para Android/iOS con GitHub </a:t>
            </a:r>
            <a:r>
              <a:rPr lang="es-CO" dirty="0" err="1"/>
              <a:t>Actions</a:t>
            </a:r>
            <a:r>
              <a:rPr lang="es-CO" dirty="0"/>
              <a:t>, </a:t>
            </a:r>
            <a:r>
              <a:rPr lang="es-CO" dirty="0" err="1"/>
              <a:t>GitLab</a:t>
            </a:r>
            <a:r>
              <a:rPr lang="es-CO" dirty="0"/>
              <a:t> CI o Ionic </a:t>
            </a:r>
            <a:r>
              <a:rPr lang="es-CO" dirty="0" err="1"/>
              <a:t>Appflow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3691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3D5C0DB-5474-3C59-4750-93577A41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CE403F31-1114-3414-70CE-4B1B1D67C0FF}"/>
              </a:ext>
            </a:extLst>
          </p:cNvPr>
          <p:cNvSpPr txBox="1"/>
          <p:nvPr/>
        </p:nvSpPr>
        <p:spPr>
          <a:xfrm>
            <a:off x="439838" y="706056"/>
            <a:ext cx="4109013" cy="37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Emplear los comandos principales del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Ionic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CLI para la creación de proyectos, páginas y servicios, asegurando una configuración adecuada del entorno de desarrollo móvil y su integración con Capacitor.</a:t>
            </a:r>
            <a:endParaRPr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 descr="cccbInterfaz de usuario gráfica, Aplicación">
            <a:extLst>
              <a:ext uri="{FF2B5EF4-FFF2-40B4-BE49-F238E27FC236}">
                <a16:creationId xmlns:a16="http://schemas.microsoft.com/office/drawing/2014/main" id="{B50DD8E6-A66A-EFFF-5D8B-84660A495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068" y="160867"/>
            <a:ext cx="6705600" cy="658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5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A0761-65BA-D044-0F4D-2CF3BA68A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24E97D1-36D4-1DB7-8FDC-7D99FDA69F51}"/>
              </a:ext>
            </a:extLst>
          </p:cNvPr>
          <p:cNvSpPr txBox="1"/>
          <p:nvPr/>
        </p:nvSpPr>
        <p:spPr>
          <a:xfrm>
            <a:off x="1102255" y="1626743"/>
            <a:ext cx="9724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Para comenzar con Ionic + Capacitor necesitamos instalar:</a:t>
            </a:r>
            <a:endParaRPr lang="es-ES" sz="1600" dirty="0"/>
          </a:p>
        </p:txBody>
      </p:sp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7A77E911-FF85-D2F2-882F-9A3CAEEE6EB7}"/>
              </a:ext>
            </a:extLst>
          </p:cNvPr>
          <p:cNvSpPr txBox="1"/>
          <p:nvPr/>
        </p:nvSpPr>
        <p:spPr>
          <a:xfrm>
            <a:off x="2601476" y="824758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Instalación de herramientas base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FDCFB39-B15A-3FA9-46C3-1652E2496809}"/>
              </a:ext>
            </a:extLst>
          </p:cNvPr>
          <p:cNvSpPr txBox="1"/>
          <p:nvPr/>
        </p:nvSpPr>
        <p:spPr>
          <a:xfrm>
            <a:off x="1102255" y="2244102"/>
            <a:ext cx="825341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Node.js (LTS) → motor de ejecución para JavaScript/</a:t>
            </a:r>
            <a:r>
              <a:rPr lang="es-ES" sz="1600" dirty="0" err="1">
                <a:solidFill>
                  <a:schemeClr val="tx1"/>
                </a:solidFill>
              </a:rPr>
              <a:t>TypeScript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npm (Node </a:t>
            </a:r>
            <a:r>
              <a:rPr lang="pt-BR" sz="1600" dirty="0" err="1">
                <a:solidFill>
                  <a:schemeClr val="tx1"/>
                </a:solidFill>
              </a:rPr>
              <a:t>Package</a:t>
            </a:r>
            <a:r>
              <a:rPr lang="pt-BR" sz="1600" dirty="0">
                <a:solidFill>
                  <a:schemeClr val="tx1"/>
                </a:solidFill>
              </a:rPr>
              <a:t> Manager) → gestor de </a:t>
            </a:r>
            <a:r>
              <a:rPr lang="pt-BR" sz="1600" dirty="0" err="1">
                <a:solidFill>
                  <a:schemeClr val="tx1"/>
                </a:solidFill>
              </a:rPr>
              <a:t>dependencias</a:t>
            </a:r>
            <a:r>
              <a:rPr lang="pt-BR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Ionic CLI → </a:t>
            </a:r>
            <a:r>
              <a:rPr lang="pt-BR" sz="1600" dirty="0" err="1">
                <a:solidFill>
                  <a:schemeClr val="tx1"/>
                </a:solidFill>
              </a:rPr>
              <a:t>interfaz</a:t>
            </a:r>
            <a:r>
              <a:rPr lang="pt-BR" sz="1600" dirty="0">
                <a:solidFill>
                  <a:schemeClr val="tx1"/>
                </a:solidFill>
              </a:rPr>
              <a:t> de línea de comandos de Ionic.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Capacitor CLI (</a:t>
            </a:r>
            <a:r>
              <a:rPr lang="pt-BR" sz="1600" dirty="0" err="1">
                <a:solidFill>
                  <a:schemeClr val="tx1"/>
                </a:solidFill>
              </a:rPr>
              <a:t>incluida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err="1">
                <a:solidFill>
                  <a:schemeClr val="tx1"/>
                </a:solidFill>
              </a:rPr>
              <a:t>con</a:t>
            </a:r>
            <a:r>
              <a:rPr lang="pt-BR" sz="1600" dirty="0">
                <a:solidFill>
                  <a:schemeClr val="tx1"/>
                </a:solidFill>
              </a:rPr>
              <a:t> Ionic).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Android Studio → para compilar y emular en Android.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solidFill>
                  <a:schemeClr val="tx1"/>
                </a:solidFill>
              </a:rPr>
              <a:t>Xcode</a:t>
            </a:r>
            <a:r>
              <a:rPr lang="es-ES" sz="1600" dirty="0">
                <a:solidFill>
                  <a:schemeClr val="tx1"/>
                </a:solidFill>
              </a:rPr>
              <a:t> (solo macOS) → para compilar y probar en 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/>
                </a:solidFill>
              </a:rPr>
              <a:t>Visual Studio </a:t>
            </a:r>
            <a:r>
              <a:rPr lang="pt-BR" sz="1600" dirty="0" err="1">
                <a:solidFill>
                  <a:schemeClr val="tx1"/>
                </a:solidFill>
              </a:rPr>
              <a:t>Code</a:t>
            </a:r>
            <a:r>
              <a:rPr lang="pt-BR" sz="1600" dirty="0">
                <a:solidFill>
                  <a:schemeClr val="tx1"/>
                </a:solidFill>
              </a:rPr>
              <a:t> (recomendado) → IDE para </a:t>
            </a:r>
            <a:r>
              <a:rPr lang="pt-BR" sz="1600" dirty="0" err="1">
                <a:solidFill>
                  <a:schemeClr val="tx1"/>
                </a:solidFill>
              </a:rPr>
              <a:t>escribir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err="1">
                <a:solidFill>
                  <a:schemeClr val="tx1"/>
                </a:solidFill>
              </a:rPr>
              <a:t>el</a:t>
            </a:r>
            <a:r>
              <a:rPr lang="pt-BR" sz="1600" dirty="0">
                <a:solidFill>
                  <a:schemeClr val="tx1"/>
                </a:solidFill>
              </a:rPr>
              <a:t> código.</a:t>
            </a:r>
          </a:p>
          <a:p>
            <a:endParaRPr lang="es-CO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618021-C022-808B-90FF-FA32A94F4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663" y="4644933"/>
            <a:ext cx="5178279" cy="659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88390B8-9C72-9207-5E40-D94D64AC7B7D}"/>
              </a:ext>
            </a:extLst>
          </p:cNvPr>
          <p:cNvSpPr txBox="1"/>
          <p:nvPr/>
        </p:nvSpPr>
        <p:spPr>
          <a:xfrm>
            <a:off x="1102255" y="430637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Ejemplo instalación global de Ionic: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566183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DA83-E8A7-8B9B-C973-5E94239C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7A24D97-14D9-B516-EA40-CDE99327CC5D}"/>
              </a:ext>
            </a:extLst>
          </p:cNvPr>
          <p:cNvSpPr txBox="1"/>
          <p:nvPr/>
        </p:nvSpPr>
        <p:spPr>
          <a:xfrm>
            <a:off x="1102255" y="1626743"/>
            <a:ext cx="9724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Con la CLI podemos crear proyectos fácilmente:</a:t>
            </a:r>
            <a:endParaRPr lang="es-ES" sz="1600" dirty="0"/>
          </a:p>
        </p:txBody>
      </p:sp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47A2CD9E-2C16-7578-601D-04AF5DD54974}"/>
              </a:ext>
            </a:extLst>
          </p:cNvPr>
          <p:cNvSpPr txBox="1"/>
          <p:nvPr/>
        </p:nvSpPr>
        <p:spPr>
          <a:xfrm>
            <a:off x="2601476" y="824758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Creación de un nuevo proyecto Ionic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A2C8B33-D4CD-65F7-B1CB-09982A69DD93}"/>
              </a:ext>
            </a:extLst>
          </p:cNvPr>
          <p:cNvSpPr txBox="1"/>
          <p:nvPr/>
        </p:nvSpPr>
        <p:spPr>
          <a:xfrm>
            <a:off x="1102255" y="3321494"/>
            <a:ext cx="82534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myApp → nombre del proyecto.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tabs → plantilla inicial (también hay </a:t>
            </a:r>
            <a:r>
              <a:rPr lang="es-ES" sz="1600" dirty="0" err="1">
                <a:solidFill>
                  <a:schemeClr val="tx1"/>
                </a:solidFill>
              </a:rPr>
              <a:t>blank</a:t>
            </a:r>
            <a:r>
              <a:rPr lang="es-ES" sz="1600" dirty="0">
                <a:solidFill>
                  <a:schemeClr val="tx1"/>
                </a:solidFill>
              </a:rPr>
              <a:t>, </a:t>
            </a:r>
            <a:r>
              <a:rPr lang="es-ES" sz="1600" dirty="0" err="1">
                <a:solidFill>
                  <a:schemeClr val="tx1"/>
                </a:solidFill>
              </a:rPr>
              <a:t>sidemenu</a:t>
            </a:r>
            <a:r>
              <a:rPr lang="es-ES" sz="1600" dirty="0">
                <a:solidFill>
                  <a:schemeClr val="tx1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El asistente pregunta si quieres usar Angular, </a:t>
            </a:r>
            <a:r>
              <a:rPr lang="es-ES" sz="1600" dirty="0" err="1">
                <a:solidFill>
                  <a:schemeClr val="tx1"/>
                </a:solidFill>
              </a:rPr>
              <a:t>React</a:t>
            </a:r>
            <a:r>
              <a:rPr lang="es-ES" sz="1600" dirty="0">
                <a:solidFill>
                  <a:schemeClr val="tx1"/>
                </a:solidFill>
              </a:rPr>
              <a:t> o </a:t>
            </a:r>
            <a:r>
              <a:rPr lang="es-ES" sz="1600" dirty="0" err="1">
                <a:solidFill>
                  <a:schemeClr val="tx1"/>
                </a:solidFill>
              </a:rPr>
              <a:t>Vue</a:t>
            </a:r>
            <a:r>
              <a:rPr lang="pt-BR" sz="1600" dirty="0">
                <a:solidFill>
                  <a:schemeClr val="tx1"/>
                </a:solidFill>
              </a:rPr>
              <a:t>.</a:t>
            </a:r>
          </a:p>
          <a:p>
            <a:endParaRPr lang="pt-BR" sz="1600" dirty="0">
              <a:solidFill>
                <a:schemeClr val="tx1"/>
              </a:solidFill>
            </a:endParaRPr>
          </a:p>
          <a:p>
            <a:endParaRPr lang="es-CO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5AF6CB2-041B-7948-FB0C-0F35C4A3DC84}"/>
              </a:ext>
            </a:extLst>
          </p:cNvPr>
          <p:cNvSpPr txBox="1"/>
          <p:nvPr/>
        </p:nvSpPr>
        <p:spPr>
          <a:xfrm>
            <a:off x="7272865" y="2507789"/>
            <a:ext cx="4699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Resultado: se crea la estructura de carpetas en myApp/.</a:t>
            </a:r>
            <a:endParaRPr lang="es-CO" sz="16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9901F91-9C64-A715-B8DB-0AA8DE40F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584" y="2365447"/>
            <a:ext cx="3436217" cy="7271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272710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D9C9-F4AB-C785-AEFB-10CDA760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D0871D2-B02B-7DA4-1ED6-384C13448ED9}"/>
              </a:ext>
            </a:extLst>
          </p:cNvPr>
          <p:cNvSpPr txBox="1"/>
          <p:nvPr/>
        </p:nvSpPr>
        <p:spPr>
          <a:xfrm>
            <a:off x="1102255" y="1626743"/>
            <a:ext cx="9724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Capacitor ya viene integrado en proyectos Ionic recientes, pero se puede instalar manualmente:</a:t>
            </a:r>
            <a:endParaRPr lang="es-ES" sz="1600" dirty="0"/>
          </a:p>
        </p:txBody>
      </p:sp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AC33C841-476A-5F92-ED0D-BC5E6C6F9C08}"/>
              </a:ext>
            </a:extLst>
          </p:cNvPr>
          <p:cNvSpPr txBox="1"/>
          <p:nvPr/>
        </p:nvSpPr>
        <p:spPr>
          <a:xfrm>
            <a:off x="2601476" y="824758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Instalación e integración de Capacitor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1CF7642-F5B5-7606-4C2E-ACD154240FA7}"/>
              </a:ext>
            </a:extLst>
          </p:cNvPr>
          <p:cNvSpPr txBox="1"/>
          <p:nvPr/>
        </p:nvSpPr>
        <p:spPr>
          <a:xfrm>
            <a:off x="915988" y="3767944"/>
            <a:ext cx="82534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Pide nombre de la app y App ID (</a:t>
            </a:r>
            <a:r>
              <a:rPr lang="es-ES" sz="1600" dirty="0" err="1">
                <a:solidFill>
                  <a:schemeClr val="tx1"/>
                </a:solidFill>
              </a:rPr>
              <a:t>com.miempresa.miapp</a:t>
            </a:r>
            <a:r>
              <a:rPr lang="es-ES" sz="1600" dirty="0">
                <a:solidFill>
                  <a:schemeClr val="tx1"/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Crea el archivo </a:t>
            </a:r>
            <a:r>
              <a:rPr lang="es-ES" sz="1600" dirty="0" err="1">
                <a:solidFill>
                  <a:schemeClr val="tx1"/>
                </a:solidFill>
              </a:rPr>
              <a:t>capacitor.config.ts</a:t>
            </a:r>
            <a:r>
              <a:rPr lang="es-ES" sz="1600" dirty="0">
                <a:solidFill>
                  <a:schemeClr val="tx1"/>
                </a:solidFill>
              </a:rPr>
              <a:t>.</a:t>
            </a:r>
            <a:endParaRPr lang="pt-BR" sz="1600" dirty="0">
              <a:solidFill>
                <a:schemeClr val="tx1"/>
              </a:solidFill>
            </a:endParaRPr>
          </a:p>
          <a:p>
            <a:endParaRPr lang="pt-BR" sz="1600" dirty="0">
              <a:solidFill>
                <a:schemeClr val="tx1"/>
              </a:solidFill>
            </a:endParaRPr>
          </a:p>
          <a:p>
            <a:endParaRPr lang="es-CO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A6C05E-8163-2278-4231-8C6B61A82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685" y="2266702"/>
            <a:ext cx="4782217" cy="5334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6BC271B-8B4B-508E-6F80-8FF5088B21D6}"/>
              </a:ext>
            </a:extLst>
          </p:cNvPr>
          <p:cNvSpPr txBox="1"/>
          <p:nvPr/>
        </p:nvSpPr>
        <p:spPr>
          <a:xfrm>
            <a:off x="1102254" y="3101581"/>
            <a:ext cx="9724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Luego, inicializar:</a:t>
            </a:r>
            <a:endParaRPr lang="es-ES" sz="16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1A4EA4F-9B3F-7261-F7A0-22F833F87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437" y="3078324"/>
            <a:ext cx="1476581" cy="4477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15542C8-E2A9-692E-9C1F-2BD8AF5D7B07}"/>
              </a:ext>
            </a:extLst>
          </p:cNvPr>
          <p:cNvSpPr txBox="1"/>
          <p:nvPr/>
        </p:nvSpPr>
        <p:spPr>
          <a:xfrm>
            <a:off x="1102253" y="4491087"/>
            <a:ext cx="97246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Para añadir plataformas:</a:t>
            </a:r>
            <a:endParaRPr lang="es-ES" sz="1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C3EB05E-9EFD-13C2-BD50-B15CCA89B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687" y="4516611"/>
            <a:ext cx="2791215" cy="7525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75872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7299F-5DD9-77C3-55A0-3C05EA6C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62F917CD-F174-905F-1F02-1497D162AC21}"/>
              </a:ext>
            </a:extLst>
          </p:cNvPr>
          <p:cNvSpPr txBox="1"/>
          <p:nvPr/>
        </p:nvSpPr>
        <p:spPr>
          <a:xfrm>
            <a:off x="2423676" y="714660"/>
            <a:ext cx="586836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Configuración en Android Studio y </a:t>
            </a:r>
            <a:r>
              <a:rPr lang="es-ES" sz="2800" i="0" u="none" strike="noStrike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Xcode</a:t>
            </a:r>
            <a:endParaRPr lang="es-ES" sz="2800" i="0" u="none" strike="noStrike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C3A677A-724D-45E8-141D-08FDEF32998A}"/>
              </a:ext>
            </a:extLst>
          </p:cNvPr>
          <p:cNvSpPr txBox="1"/>
          <p:nvPr/>
        </p:nvSpPr>
        <p:spPr>
          <a:xfrm>
            <a:off x="1032932" y="2351782"/>
            <a:ext cx="82534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Abrir el proyecto en </a:t>
            </a:r>
            <a:r>
              <a:rPr lang="es-ES" sz="1600" dirty="0" err="1">
                <a:solidFill>
                  <a:schemeClr val="tx1"/>
                </a:solidFill>
              </a:rPr>
              <a:t>android</a:t>
            </a:r>
            <a:r>
              <a:rPr lang="es-ES" sz="1600" dirty="0">
                <a:solidFill>
                  <a:schemeClr val="tx1"/>
                </a:solidFill>
              </a:rPr>
              <a:t>/.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Configurar SDK y emuladores (AVD Manager).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Ejecutar en un dispositivo físico o emulador.</a:t>
            </a:r>
            <a:endParaRPr lang="pt-BR" sz="1600" dirty="0">
              <a:solidFill>
                <a:schemeClr val="tx1"/>
              </a:solidFill>
            </a:endParaRPr>
          </a:p>
          <a:p>
            <a:endParaRPr lang="es-CO" sz="1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0C359E-80CC-DCC7-ACD6-A3E9B4FF3E29}"/>
              </a:ext>
            </a:extLst>
          </p:cNvPr>
          <p:cNvSpPr txBox="1"/>
          <p:nvPr/>
        </p:nvSpPr>
        <p:spPr>
          <a:xfrm>
            <a:off x="1032932" y="1827259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Android Studio:</a:t>
            </a:r>
            <a:endParaRPr lang="es-CO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26CBC4A-BBE3-015B-A261-C79B423D2CFD}"/>
              </a:ext>
            </a:extLst>
          </p:cNvPr>
          <p:cNvSpPr txBox="1"/>
          <p:nvPr/>
        </p:nvSpPr>
        <p:spPr>
          <a:xfrm>
            <a:off x="1032931" y="3445692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 err="1">
                <a:solidFill>
                  <a:srgbClr val="00B050"/>
                </a:solidFill>
              </a:rPr>
              <a:t>Xcode</a:t>
            </a:r>
            <a:r>
              <a:rPr lang="es-ES" sz="1600" b="1" dirty="0">
                <a:solidFill>
                  <a:srgbClr val="00B050"/>
                </a:solidFill>
              </a:rPr>
              <a:t> (macOS):</a:t>
            </a:r>
            <a:endParaRPr lang="es-CO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C489E35-85B0-E9E2-3276-9A75D56F8BB1}"/>
              </a:ext>
            </a:extLst>
          </p:cNvPr>
          <p:cNvSpPr txBox="1"/>
          <p:nvPr/>
        </p:nvSpPr>
        <p:spPr>
          <a:xfrm>
            <a:off x="1032931" y="3986907"/>
            <a:ext cx="82534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Abrir el proyecto en </a:t>
            </a:r>
            <a:r>
              <a:rPr lang="es-ES" sz="1600" dirty="0" err="1">
                <a:solidFill>
                  <a:schemeClr val="tx1"/>
                </a:solidFill>
              </a:rPr>
              <a:t>ios</a:t>
            </a:r>
            <a:r>
              <a:rPr lang="es-ES" sz="1600" dirty="0">
                <a:solidFill>
                  <a:schemeClr val="tx1"/>
                </a:solidFill>
              </a:rPr>
              <a:t>/.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Configurar el "</a:t>
            </a:r>
            <a:r>
              <a:rPr lang="es-ES" sz="1600" dirty="0" err="1">
                <a:solidFill>
                  <a:schemeClr val="tx1"/>
                </a:solidFill>
              </a:rPr>
              <a:t>Team</a:t>
            </a:r>
            <a:r>
              <a:rPr lang="es-ES" sz="1600" dirty="0">
                <a:solidFill>
                  <a:schemeClr val="tx1"/>
                </a:solidFill>
              </a:rPr>
              <a:t>" y certificados de Apple.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Ejecutar en simulador de iPhone o en dispositivo real.</a:t>
            </a:r>
            <a:endParaRPr lang="es-CO" sz="1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5E0139C-D9E6-CD18-3E3A-DF2495EED367}"/>
              </a:ext>
            </a:extLst>
          </p:cNvPr>
          <p:cNvSpPr txBox="1"/>
          <p:nvPr/>
        </p:nvSpPr>
        <p:spPr>
          <a:xfrm>
            <a:off x="965200" y="502056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Importante</a:t>
            </a:r>
            <a:r>
              <a:rPr lang="es-ES" dirty="0"/>
              <a:t>: después de cada cambio en el </a:t>
            </a:r>
            <a:r>
              <a:rPr lang="es-ES" dirty="0" err="1"/>
              <a:t>frontend</a:t>
            </a:r>
            <a:r>
              <a:rPr lang="es-ES" dirty="0"/>
              <a:t> → sincronizar con nativo:</a:t>
            </a:r>
            <a:endParaRPr lang="es-CO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A8C41FC-C5C1-48BF-541D-4F327FB13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34" y="5375811"/>
            <a:ext cx="1924319" cy="4953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003756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E461-B72B-B25C-4B39-82906E4B7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80;p2">
            <a:extLst>
              <a:ext uri="{FF2B5EF4-FFF2-40B4-BE49-F238E27FC236}">
                <a16:creationId xmlns:a16="http://schemas.microsoft.com/office/drawing/2014/main" id="{1EBA54C2-7E94-E76E-01ED-CE3F77C80760}"/>
              </a:ext>
            </a:extLst>
          </p:cNvPr>
          <p:cNvSpPr txBox="1"/>
          <p:nvPr/>
        </p:nvSpPr>
        <p:spPr>
          <a:xfrm>
            <a:off x="2423676" y="714660"/>
            <a:ext cx="586836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Comandos esenciales del Ionic CLI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05DA96-7C0B-A092-9F9D-F27993F62110}"/>
              </a:ext>
            </a:extLst>
          </p:cNvPr>
          <p:cNvSpPr txBox="1"/>
          <p:nvPr/>
        </p:nvSpPr>
        <p:spPr>
          <a:xfrm>
            <a:off x="1032932" y="1827259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Crear proyecto:</a:t>
            </a:r>
            <a:endParaRPr lang="es-CO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841A74E-3684-F08C-C457-4A146F0F6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793" y="1827259"/>
            <a:ext cx="2772162" cy="2640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18ECF87-9A38-201A-EF07-B7D2BE171EB2}"/>
              </a:ext>
            </a:extLst>
          </p:cNvPr>
          <p:cNvSpPr txBox="1"/>
          <p:nvPr/>
        </p:nvSpPr>
        <p:spPr>
          <a:xfrm>
            <a:off x="1032929" y="2498190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Levantar servidor local:</a:t>
            </a:r>
            <a:endParaRPr lang="es-CO" sz="16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4C191D1-697C-B673-DAEC-D6419471A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916" y="2493901"/>
            <a:ext cx="1743318" cy="3064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275C92C-67B5-01A0-F476-3246587EE587}"/>
              </a:ext>
            </a:extLst>
          </p:cNvPr>
          <p:cNvSpPr txBox="1"/>
          <p:nvPr/>
        </p:nvSpPr>
        <p:spPr>
          <a:xfrm>
            <a:off x="1032928" y="3103783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Generar página:</a:t>
            </a:r>
            <a:endParaRPr lang="es-CO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10E3D54-3EF5-BC72-05F1-793093BF9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472" y="3086174"/>
            <a:ext cx="2934109" cy="3850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BD30644-46FA-D043-8447-E6232229E3F4}"/>
              </a:ext>
            </a:extLst>
          </p:cNvPr>
          <p:cNvSpPr txBox="1"/>
          <p:nvPr/>
        </p:nvSpPr>
        <p:spPr>
          <a:xfrm>
            <a:off x="1032927" y="3714472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Generar componente:</a:t>
            </a:r>
            <a:endParaRPr lang="es-CO" sz="16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A774FCE-45CA-3558-1701-EEED80898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427" y="3683381"/>
            <a:ext cx="3724795" cy="369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12CFC59A-1682-078D-3AF8-32142D6B7158}"/>
              </a:ext>
            </a:extLst>
          </p:cNvPr>
          <p:cNvSpPr txBox="1"/>
          <p:nvPr/>
        </p:nvSpPr>
        <p:spPr>
          <a:xfrm>
            <a:off x="1032926" y="4296258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Añadir plataforma:</a:t>
            </a:r>
            <a:endParaRPr lang="es-CO" sz="16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F43E216-1811-916B-D471-44FDACE8D3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0283" y="4265031"/>
            <a:ext cx="2333951" cy="4065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35C036B7-7BDF-5621-F479-EFD8A62A8176}"/>
              </a:ext>
            </a:extLst>
          </p:cNvPr>
          <p:cNvSpPr txBox="1"/>
          <p:nvPr/>
        </p:nvSpPr>
        <p:spPr>
          <a:xfrm>
            <a:off x="1032926" y="4943731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Sincronizar con nativo:</a:t>
            </a:r>
            <a:endParaRPr lang="es-CO" sz="16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0665F6B7-E10A-7F35-A3B5-D0EEE89B03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373" y="4901851"/>
            <a:ext cx="2019582" cy="4971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68833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5A3C-2984-4699-AD0D-34E2DA06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18DF9D9B-8E26-0DAD-9E57-7BFCC6B58645}"/>
              </a:ext>
            </a:extLst>
          </p:cNvPr>
          <p:cNvSpPr txBox="1"/>
          <p:nvPr/>
        </p:nvSpPr>
        <p:spPr>
          <a:xfrm>
            <a:off x="2085009" y="863598"/>
            <a:ext cx="722832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Buenas prácticas para el entorno de desarrollo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11E2086-3B03-C330-1D85-FD4F6987E95B}"/>
              </a:ext>
            </a:extLst>
          </p:cNvPr>
          <p:cNvSpPr/>
          <p:nvPr/>
        </p:nvSpPr>
        <p:spPr>
          <a:xfrm>
            <a:off x="1261533" y="2674439"/>
            <a:ext cx="5875867" cy="20997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Mantener versiones actualizadas de Node.js, Ionic y Capacitor.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Usar entornos separados: </a:t>
            </a:r>
            <a:r>
              <a:rPr lang="es-ES" dirty="0" err="1"/>
              <a:t>dev</a:t>
            </a:r>
            <a:r>
              <a:rPr lang="es-ES" dirty="0"/>
              <a:t>, </a:t>
            </a:r>
            <a:r>
              <a:rPr lang="es-ES" dirty="0" err="1"/>
              <a:t>qa</a:t>
            </a:r>
            <a:r>
              <a:rPr lang="es-ES" dirty="0"/>
              <a:t>, </a:t>
            </a:r>
            <a:r>
              <a:rPr lang="es-ES" dirty="0" err="1"/>
              <a:t>prod</a:t>
            </a:r>
            <a:r>
              <a:rPr lang="es-ES" dirty="0"/>
              <a:t> → con </a:t>
            </a:r>
            <a:r>
              <a:rPr lang="es-ES" dirty="0" err="1"/>
              <a:t>environments.ts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Emular antes de compilar → ahorrar tiempo de pruebas.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Uso de </a:t>
            </a:r>
            <a:r>
              <a:rPr lang="es-ES" dirty="0" err="1"/>
              <a:t>linters</a:t>
            </a:r>
            <a:r>
              <a:rPr lang="es-ES" dirty="0"/>
              <a:t> (</a:t>
            </a:r>
            <a:r>
              <a:rPr lang="es-ES" dirty="0" err="1"/>
              <a:t>ESLint</a:t>
            </a:r>
            <a:r>
              <a:rPr lang="es-ES" dirty="0"/>
              <a:t>, </a:t>
            </a:r>
            <a:r>
              <a:rPr lang="es-ES" dirty="0" err="1"/>
              <a:t>Prettier</a:t>
            </a:r>
            <a:r>
              <a:rPr lang="es-ES" dirty="0"/>
              <a:t>) para mantener código uniforme.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Control de dependencias: evitar instalar paquetes innecesarios.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Documentar comandos frecuentes en un README.md.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Probar en dispositivos reales, no solo en emuladores.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0912CD-1CA3-896E-FD14-B3A9C82A9EB6}"/>
              </a:ext>
            </a:extLst>
          </p:cNvPr>
          <p:cNvSpPr txBox="1"/>
          <p:nvPr/>
        </p:nvSpPr>
        <p:spPr>
          <a:xfrm>
            <a:off x="1007532" y="1745273"/>
            <a:ext cx="8170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Aplicar </a:t>
            </a:r>
            <a:r>
              <a:rPr lang="es-ES" sz="1600" b="1" dirty="0" err="1"/>
              <a:t>Clean</a:t>
            </a:r>
            <a:r>
              <a:rPr lang="es-ES" sz="1600" b="1" dirty="0"/>
              <a:t> </a:t>
            </a:r>
            <a:r>
              <a:rPr lang="es-ES" sz="1600" b="1" dirty="0" err="1"/>
              <a:t>Code</a:t>
            </a:r>
            <a:r>
              <a:rPr lang="es-ES" sz="1600" dirty="0"/>
              <a:t> mejora la legibilidad, mantenibilidad y escalabilidad:</a:t>
            </a:r>
            <a:endParaRPr lang="es-CO" sz="1600" dirty="0"/>
          </a:p>
        </p:txBody>
      </p:sp>
      <p:pic>
        <p:nvPicPr>
          <p:cNvPr id="12" name="Imagen 11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C10F9D6-108D-7B7A-B4F6-FEECF35F2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357"/>
          <a:stretch>
            <a:fillRect/>
          </a:stretch>
        </p:blipFill>
        <p:spPr>
          <a:xfrm>
            <a:off x="7859450" y="2442322"/>
            <a:ext cx="3629817" cy="291253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8925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4FC678C1-343D-2DC4-0A16-AD416ED42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>
            <a:extLst>
              <a:ext uri="{FF2B5EF4-FFF2-40B4-BE49-F238E27FC236}">
                <a16:creationId xmlns:a16="http://schemas.microsoft.com/office/drawing/2014/main" id="{77BC5B65-5C28-3498-9605-7D022F3C7DA1}"/>
              </a:ext>
            </a:extLst>
          </p:cNvPr>
          <p:cNvSpPr txBox="1"/>
          <p:nvPr/>
        </p:nvSpPr>
        <p:spPr>
          <a:xfrm>
            <a:off x="439838" y="706056"/>
            <a:ext cx="4109013" cy="37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ES" sz="28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Realizar procesos de conexión y depuración de aplicaciones móviles en simuladores y dispositivos físicos (iOS y Android), utilizando herramientas como Android Studio,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Xcode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Chrome </a:t>
            </a:r>
            <a:r>
              <a:rPr lang="es-ES" sz="20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DevTools</a:t>
            </a:r>
            <a:r>
              <a:rPr lang="es-E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para verificar su funcionamiento.</a:t>
            </a: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lang="es-CO" sz="2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13E22CF8-FE06-12A8-3488-F050A7F69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261" y="101600"/>
            <a:ext cx="6858000" cy="66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56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57B6-13CA-128D-67FF-4DE9BC33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4098FC8A-F13D-735F-40A4-E6EEEF554A95}"/>
              </a:ext>
            </a:extLst>
          </p:cNvPr>
          <p:cNvSpPr txBox="1"/>
          <p:nvPr/>
        </p:nvSpPr>
        <p:spPr>
          <a:xfrm>
            <a:off x="1873342" y="715916"/>
            <a:ext cx="722832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Métodos de ejecución y pruebas en diferentes entornos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8E0429-1029-362C-B10E-CA42C3D9FE98}"/>
              </a:ext>
            </a:extLst>
          </p:cNvPr>
          <p:cNvSpPr txBox="1"/>
          <p:nvPr/>
        </p:nvSpPr>
        <p:spPr>
          <a:xfrm>
            <a:off x="1007532" y="1745273"/>
            <a:ext cx="8170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Existen varios niveles de ejecución de una app con Ionic + Capacitor:</a:t>
            </a:r>
            <a:endParaRPr lang="es-CO" sz="16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ED0AB6-A082-CAEC-C262-909736C5CFA5}"/>
              </a:ext>
            </a:extLst>
          </p:cNvPr>
          <p:cNvSpPr txBox="1"/>
          <p:nvPr/>
        </p:nvSpPr>
        <p:spPr>
          <a:xfrm>
            <a:off x="1007532" y="2159117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Entorno de desarrollo (web browser): </a:t>
            </a:r>
            <a:endParaRPr lang="es-CO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D951829-FDD2-88A4-CA41-4866B13F270F}"/>
              </a:ext>
            </a:extLst>
          </p:cNvPr>
          <p:cNvSpPr txBox="1"/>
          <p:nvPr/>
        </p:nvSpPr>
        <p:spPr>
          <a:xfrm>
            <a:off x="1007533" y="2478312"/>
            <a:ext cx="4326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Rápido para validar UI y lógica.</a:t>
            </a:r>
          </a:p>
          <a:p>
            <a:r>
              <a:rPr lang="es-ES" sz="1600" dirty="0"/>
              <a:t>Comando: </a:t>
            </a:r>
            <a:r>
              <a:rPr lang="es-ES" sz="1600" b="1" dirty="0" err="1"/>
              <a:t>ionic</a:t>
            </a:r>
            <a:r>
              <a:rPr lang="es-ES" sz="1600" b="1" dirty="0"/>
              <a:t> serve</a:t>
            </a:r>
            <a:endParaRPr lang="es-CO" sz="16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55EC5B-C5F8-79B1-4C0E-AB35CB91C933}"/>
              </a:ext>
            </a:extLst>
          </p:cNvPr>
          <p:cNvSpPr txBox="1"/>
          <p:nvPr/>
        </p:nvSpPr>
        <p:spPr>
          <a:xfrm>
            <a:off x="6096794" y="2174955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Dispositivo/emulador Android:</a:t>
            </a:r>
            <a:endParaRPr lang="es-CO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15160D-06F8-67E0-7224-262738BCAC21}"/>
              </a:ext>
            </a:extLst>
          </p:cNvPr>
          <p:cNvSpPr txBox="1"/>
          <p:nvPr/>
        </p:nvSpPr>
        <p:spPr>
          <a:xfrm>
            <a:off x="6096794" y="2478312"/>
            <a:ext cx="4326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Abrir en Android Studio y ejecutar:</a:t>
            </a:r>
          </a:p>
          <a:p>
            <a:r>
              <a:rPr lang="es-ES" sz="1600" dirty="0"/>
              <a:t>Comando: </a:t>
            </a:r>
            <a:r>
              <a:rPr lang="es-ES" sz="1600" b="1" dirty="0" err="1"/>
              <a:t>npx</a:t>
            </a:r>
            <a:r>
              <a:rPr lang="es-ES" sz="1600" b="1" dirty="0"/>
              <a:t> </a:t>
            </a:r>
            <a:r>
              <a:rPr lang="es-ES" sz="1600" b="1" dirty="0" err="1"/>
              <a:t>cap</a:t>
            </a:r>
            <a:r>
              <a:rPr lang="es-ES" sz="1600" b="1" dirty="0"/>
              <a:t> run </a:t>
            </a:r>
            <a:r>
              <a:rPr lang="es-ES" sz="1600" b="1" dirty="0" err="1"/>
              <a:t>android</a:t>
            </a:r>
            <a:endParaRPr lang="es-CO" sz="16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849A715-9721-7D34-E0DD-7598B753D042}"/>
              </a:ext>
            </a:extLst>
          </p:cNvPr>
          <p:cNvSpPr txBox="1"/>
          <p:nvPr/>
        </p:nvSpPr>
        <p:spPr>
          <a:xfrm>
            <a:off x="1007531" y="3319050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Dispositivo/emulador iOS (requiere macOS):</a:t>
            </a:r>
            <a:endParaRPr lang="es-CO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02788A4-6EF8-E720-3255-78853D7B9A49}"/>
              </a:ext>
            </a:extLst>
          </p:cNvPr>
          <p:cNvSpPr txBox="1"/>
          <p:nvPr/>
        </p:nvSpPr>
        <p:spPr>
          <a:xfrm>
            <a:off x="1007533" y="3713535"/>
            <a:ext cx="4326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Abrir en </a:t>
            </a:r>
            <a:r>
              <a:rPr lang="es-ES" sz="1600" dirty="0" err="1"/>
              <a:t>Xcode</a:t>
            </a:r>
            <a:r>
              <a:rPr lang="es-ES" sz="1600" dirty="0"/>
              <a:t>:</a:t>
            </a:r>
          </a:p>
          <a:p>
            <a:r>
              <a:rPr lang="es-ES" sz="1600" dirty="0"/>
              <a:t>Comando: </a:t>
            </a:r>
            <a:r>
              <a:rPr lang="es-ES" sz="1600" b="1" dirty="0" err="1"/>
              <a:t>npx</a:t>
            </a:r>
            <a:r>
              <a:rPr lang="es-ES" sz="1600" b="1" dirty="0"/>
              <a:t> </a:t>
            </a:r>
            <a:r>
              <a:rPr lang="es-ES" sz="1600" b="1" dirty="0" err="1"/>
              <a:t>cap</a:t>
            </a:r>
            <a:r>
              <a:rPr lang="es-ES" sz="1600" b="1" dirty="0"/>
              <a:t> run </a:t>
            </a:r>
            <a:r>
              <a:rPr lang="es-ES" sz="1600" b="1" dirty="0" err="1"/>
              <a:t>ios</a:t>
            </a:r>
            <a:endParaRPr lang="es-CO" sz="16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D2BB9AA-1391-C5B0-9786-7B3DA8E0D963}"/>
              </a:ext>
            </a:extLst>
          </p:cNvPr>
          <p:cNvSpPr txBox="1"/>
          <p:nvPr/>
        </p:nvSpPr>
        <p:spPr>
          <a:xfrm>
            <a:off x="6072498" y="3319050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Producción (</a:t>
            </a:r>
            <a:r>
              <a:rPr lang="es-ES" sz="1600" b="1" dirty="0" err="1">
                <a:solidFill>
                  <a:srgbClr val="00B050"/>
                </a:solidFill>
              </a:rPr>
              <a:t>build</a:t>
            </a:r>
            <a:r>
              <a:rPr lang="es-ES" sz="1600" b="1" dirty="0">
                <a:solidFill>
                  <a:srgbClr val="00B050"/>
                </a:solidFill>
              </a:rPr>
              <a:t> final):</a:t>
            </a:r>
            <a:endParaRPr lang="es-CO" sz="16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30E2DB5-BC75-95CF-D6B8-F1D0D3EFA0CF}"/>
              </a:ext>
            </a:extLst>
          </p:cNvPr>
          <p:cNvSpPr txBox="1"/>
          <p:nvPr/>
        </p:nvSpPr>
        <p:spPr>
          <a:xfrm>
            <a:off x="6096794" y="3657604"/>
            <a:ext cx="43264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/>
              <a:t>Generar</a:t>
            </a:r>
            <a:r>
              <a:rPr lang="pt-BR" sz="1600" dirty="0"/>
              <a:t> APK/AAB para Android o IPA para iOS.</a:t>
            </a:r>
          </a:p>
          <a:p>
            <a:r>
              <a:rPr lang="es-CO" sz="1600" dirty="0"/>
              <a:t>Validar en dispositivos reales antes de publicar en </a:t>
            </a:r>
            <a:r>
              <a:rPr lang="es-CO" sz="1600" b="1" dirty="0"/>
              <a:t>Google Play</a:t>
            </a:r>
            <a:r>
              <a:rPr lang="es-CO" sz="1600" dirty="0"/>
              <a:t> o </a:t>
            </a:r>
            <a:r>
              <a:rPr lang="es-CO" sz="1600" b="1" dirty="0"/>
              <a:t>App Store</a:t>
            </a:r>
            <a:r>
              <a:rPr lang="es-CO" sz="1600" dirty="0"/>
              <a:t>.</a:t>
            </a:r>
            <a:endParaRPr lang="es-CO" sz="1600" b="1" dirty="0"/>
          </a:p>
        </p:txBody>
      </p:sp>
    </p:spTree>
    <p:extLst>
      <p:ext uri="{BB962C8B-B14F-4D97-AF65-F5344CB8AC3E}">
        <p14:creationId xmlns:p14="http://schemas.microsoft.com/office/powerpoint/2010/main" val="985661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14AD-FDB8-7701-04FB-487294493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15C742A2-C2AA-FF8D-1330-2D9BFB3DC1A0}"/>
              </a:ext>
            </a:extLst>
          </p:cNvPr>
          <p:cNvSpPr txBox="1"/>
          <p:nvPr/>
        </p:nvSpPr>
        <p:spPr>
          <a:xfrm>
            <a:off x="1780208" y="982427"/>
            <a:ext cx="722832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Herramientas de depuración para Ionic + Capacitor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860F330-E3A4-DB7C-0391-37AD1ABDEDD6}"/>
              </a:ext>
            </a:extLst>
          </p:cNvPr>
          <p:cNvSpPr/>
          <p:nvPr/>
        </p:nvSpPr>
        <p:spPr>
          <a:xfrm>
            <a:off x="1176866" y="2657505"/>
            <a:ext cx="5875867" cy="29125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tx1"/>
                </a:solidFill>
              </a:rPr>
              <a:t>Chrome </a:t>
            </a:r>
            <a:r>
              <a:rPr lang="es-ES" b="1" dirty="0" err="1">
                <a:solidFill>
                  <a:schemeClr val="tx1"/>
                </a:solidFill>
              </a:rPr>
              <a:t>DevTools</a:t>
            </a:r>
            <a:r>
              <a:rPr lang="es-ES" dirty="0">
                <a:solidFill>
                  <a:schemeClr val="tx1"/>
                </a:solidFill>
              </a:rPr>
              <a:t>:</a:t>
            </a:r>
          </a:p>
          <a:p>
            <a:pPr marL="285750" lvl="3" indent="-285750">
              <a:buFont typeface="Wingdings" panose="05000000000000000000" pitchFamily="2" charset="2"/>
              <a:buChar char="ü"/>
            </a:pPr>
            <a:r>
              <a:rPr lang="es-ES" dirty="0"/>
              <a:t>Conectar el móvil vía USB.</a:t>
            </a:r>
          </a:p>
          <a:p>
            <a:pPr marL="285750" lvl="3" indent="-285750">
              <a:buFont typeface="Wingdings" panose="05000000000000000000" pitchFamily="2" charset="2"/>
              <a:buChar char="ü"/>
            </a:pPr>
            <a:r>
              <a:rPr lang="es-ES" dirty="0"/>
              <a:t>Inspeccionar la app como si fuera una página web (chrome://inspect).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</a:rPr>
              <a:t>Safari Web Inspector (iOS):</a:t>
            </a:r>
          </a:p>
          <a:p>
            <a:pPr marL="285750" lvl="3" indent="-285750">
              <a:buFont typeface="Wingdings" panose="05000000000000000000" pitchFamily="2" charset="2"/>
              <a:buChar char="ü"/>
            </a:pPr>
            <a:r>
              <a:rPr lang="es-CO" dirty="0"/>
              <a:t>Permite depurar apps iOS desde el navegador Safari.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</a:rPr>
              <a:t>Consola de Android Studio / </a:t>
            </a:r>
            <a:r>
              <a:rPr lang="es-CO" b="1" dirty="0" err="1">
                <a:solidFill>
                  <a:schemeClr val="tx1"/>
                </a:solidFill>
              </a:rPr>
              <a:t>Xcode</a:t>
            </a:r>
            <a:r>
              <a:rPr lang="es-CO" b="1" dirty="0">
                <a:solidFill>
                  <a:schemeClr val="tx1"/>
                </a:solidFill>
              </a:rPr>
              <a:t>:</a:t>
            </a:r>
          </a:p>
          <a:p>
            <a:pPr marL="285750" lvl="3" indent="-285750">
              <a:buFont typeface="Wingdings" panose="05000000000000000000" pitchFamily="2" charset="2"/>
              <a:buChar char="ü"/>
            </a:pPr>
            <a:r>
              <a:rPr lang="es-ES" dirty="0"/>
              <a:t>Revisar logs nativos (errores en </a:t>
            </a:r>
            <a:r>
              <a:rPr lang="es-ES" dirty="0" err="1"/>
              <a:t>plugins</a:t>
            </a:r>
            <a:r>
              <a:rPr lang="es-ES" dirty="0"/>
              <a:t>, permisos, etc.).</a:t>
            </a:r>
          </a:p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es-CO" b="1" dirty="0">
                <a:solidFill>
                  <a:schemeClr val="tx1"/>
                </a:solidFill>
              </a:rPr>
              <a:t>Herramientas complementarias:</a:t>
            </a:r>
          </a:p>
          <a:p>
            <a:pPr marL="285750" lvl="3" indent="-285750">
              <a:buFont typeface="Wingdings" panose="05000000000000000000" pitchFamily="2" charset="2"/>
              <a:buChar char="ü"/>
            </a:pPr>
            <a:r>
              <a:rPr lang="es-ES" b="1" dirty="0">
                <a:solidFill>
                  <a:schemeClr val="bg1"/>
                </a:solidFill>
              </a:rPr>
              <a:t>Ionic </a:t>
            </a:r>
            <a:r>
              <a:rPr lang="es-ES" b="1" dirty="0" err="1">
                <a:solidFill>
                  <a:schemeClr val="bg1"/>
                </a:solidFill>
              </a:rPr>
              <a:t>DevApp</a:t>
            </a:r>
            <a:r>
              <a:rPr lang="es-ES" b="1" dirty="0">
                <a:solidFill>
                  <a:schemeClr val="bg1"/>
                </a:solidFill>
              </a:rPr>
              <a:t> (para pruebas rápidas en red local).</a:t>
            </a:r>
          </a:p>
          <a:p>
            <a:pPr marL="285750" lvl="3" indent="-285750">
              <a:buFont typeface="Wingdings" panose="05000000000000000000" pitchFamily="2" charset="2"/>
              <a:buChar char="ü"/>
            </a:pPr>
            <a:r>
              <a:rPr lang="es-ES" b="1" dirty="0" err="1">
                <a:solidFill>
                  <a:schemeClr val="bg1"/>
                </a:solidFill>
              </a:rPr>
              <a:t>Postman</a:t>
            </a:r>
            <a:r>
              <a:rPr lang="es-ES" b="1" dirty="0">
                <a:solidFill>
                  <a:schemeClr val="bg1"/>
                </a:solidFill>
              </a:rPr>
              <a:t>/</a:t>
            </a:r>
            <a:r>
              <a:rPr lang="es-ES" b="1" dirty="0" err="1">
                <a:solidFill>
                  <a:schemeClr val="bg1"/>
                </a:solidFill>
              </a:rPr>
              <a:t>Insomnia</a:t>
            </a:r>
            <a:r>
              <a:rPr lang="es-ES" b="1" dirty="0">
                <a:solidFill>
                  <a:schemeClr val="bg1"/>
                </a:solidFill>
              </a:rPr>
              <a:t> (para validar </a:t>
            </a:r>
            <a:r>
              <a:rPr lang="es-ES" b="1" dirty="0" err="1">
                <a:solidFill>
                  <a:schemeClr val="bg1"/>
                </a:solidFill>
              </a:rPr>
              <a:t>APIs</a:t>
            </a:r>
            <a:r>
              <a:rPr lang="es-ES" b="1" dirty="0">
                <a:solidFill>
                  <a:schemeClr val="bg1"/>
                </a:solidFill>
              </a:rPr>
              <a:t> que usa la app).</a:t>
            </a:r>
            <a:endParaRPr lang="es-CO" b="1" dirty="0">
              <a:solidFill>
                <a:schemeClr val="bg1"/>
              </a:solidFill>
            </a:endParaRPr>
          </a:p>
        </p:txBody>
      </p:sp>
      <p:pic>
        <p:nvPicPr>
          <p:cNvPr id="8" name="Imagen 7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0A632B9C-79D7-6DB6-B16E-A02DBC2B4A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099"/>
          <a:stretch>
            <a:fillRect/>
          </a:stretch>
        </p:blipFill>
        <p:spPr>
          <a:xfrm>
            <a:off x="7747794" y="2891934"/>
            <a:ext cx="3598864" cy="24436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35769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9B4A0-2FD7-375C-6D79-E3111C2E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561B86EC-4BE5-4650-4C69-05A963DA5491}"/>
              </a:ext>
            </a:extLst>
          </p:cNvPr>
          <p:cNvSpPr txBox="1"/>
          <p:nvPr/>
        </p:nvSpPr>
        <p:spPr>
          <a:xfrm>
            <a:off x="1873342" y="715916"/>
            <a:ext cx="722832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Sincronización y reconstrucción del proyecto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E82B50-2DD2-FA7F-C4B6-2E854BD5B281}"/>
              </a:ext>
            </a:extLst>
          </p:cNvPr>
          <p:cNvSpPr txBox="1"/>
          <p:nvPr/>
        </p:nvSpPr>
        <p:spPr>
          <a:xfrm>
            <a:off x="1007532" y="1745273"/>
            <a:ext cx="8170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Cada vez que cambias dependencias o </a:t>
            </a:r>
            <a:r>
              <a:rPr lang="es-ES" sz="1600" dirty="0" err="1"/>
              <a:t>frontend</a:t>
            </a:r>
            <a:r>
              <a:rPr lang="es-ES" sz="1600" dirty="0"/>
              <a:t>, se debe sincronizar con Capacitor:</a:t>
            </a:r>
            <a:endParaRPr lang="es-CO" sz="16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BF8971-CB06-78DF-3721-E9C41BAA4035}"/>
              </a:ext>
            </a:extLst>
          </p:cNvPr>
          <p:cNvSpPr txBox="1"/>
          <p:nvPr/>
        </p:nvSpPr>
        <p:spPr>
          <a:xfrm>
            <a:off x="1007532" y="2159117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Copiar cambios al nativo:</a:t>
            </a:r>
            <a:endParaRPr lang="es-CO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711FF6-DA21-F349-81D9-7E04EAA469C3}"/>
              </a:ext>
            </a:extLst>
          </p:cNvPr>
          <p:cNvSpPr txBox="1"/>
          <p:nvPr/>
        </p:nvSpPr>
        <p:spPr>
          <a:xfrm>
            <a:off x="3561027" y="2174955"/>
            <a:ext cx="4326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 err="1"/>
              <a:t>npx</a:t>
            </a:r>
            <a:r>
              <a:rPr lang="es-ES" sz="1600" dirty="0"/>
              <a:t> </a:t>
            </a:r>
            <a:r>
              <a:rPr lang="es-ES" sz="1600" dirty="0" err="1"/>
              <a:t>cap</a:t>
            </a:r>
            <a:r>
              <a:rPr lang="es-ES" sz="1600" dirty="0"/>
              <a:t> </a:t>
            </a:r>
            <a:r>
              <a:rPr lang="es-ES" sz="1600" dirty="0" err="1"/>
              <a:t>copy</a:t>
            </a:r>
            <a:endParaRPr lang="es-CO" sz="16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07019FD-7F9E-D635-73D7-5C661AD18444}"/>
              </a:ext>
            </a:extLst>
          </p:cNvPr>
          <p:cNvSpPr txBox="1"/>
          <p:nvPr/>
        </p:nvSpPr>
        <p:spPr>
          <a:xfrm>
            <a:off x="6096794" y="2174955"/>
            <a:ext cx="46990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Sincronizar dependencias:</a:t>
            </a:r>
            <a:endParaRPr lang="es-CO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BB782A-D60A-A2D1-BDD2-CEA21BC131F1}"/>
              </a:ext>
            </a:extLst>
          </p:cNvPr>
          <p:cNvSpPr txBox="1"/>
          <p:nvPr/>
        </p:nvSpPr>
        <p:spPr>
          <a:xfrm>
            <a:off x="8729927" y="2159117"/>
            <a:ext cx="43264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 err="1"/>
              <a:t>npx</a:t>
            </a:r>
            <a:r>
              <a:rPr lang="es-ES" sz="1600" dirty="0"/>
              <a:t> </a:t>
            </a:r>
            <a:r>
              <a:rPr lang="es-ES" sz="1600" dirty="0" err="1"/>
              <a:t>cap</a:t>
            </a:r>
            <a:r>
              <a:rPr lang="es-ES" sz="1600" dirty="0"/>
              <a:t> </a:t>
            </a:r>
            <a:r>
              <a:rPr lang="es-ES" sz="1600" dirty="0" err="1"/>
              <a:t>sync</a:t>
            </a:r>
            <a:endParaRPr lang="es-CO" sz="16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962A7AD-4E6B-140E-A6FD-E9508D0703D6}"/>
              </a:ext>
            </a:extLst>
          </p:cNvPr>
          <p:cNvSpPr txBox="1"/>
          <p:nvPr/>
        </p:nvSpPr>
        <p:spPr>
          <a:xfrm>
            <a:off x="1007531" y="3026662"/>
            <a:ext cx="46990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Recompilar proyecto nativo (cuando hay cambios en </a:t>
            </a:r>
            <a:r>
              <a:rPr lang="es-ES" sz="1600" b="1" dirty="0" err="1">
                <a:solidFill>
                  <a:srgbClr val="00B050"/>
                </a:solidFill>
              </a:rPr>
              <a:t>Gradle</a:t>
            </a:r>
            <a:r>
              <a:rPr lang="es-ES" sz="1600" b="1" dirty="0">
                <a:solidFill>
                  <a:srgbClr val="00B050"/>
                </a:solidFill>
              </a:rPr>
              <a:t>, </a:t>
            </a:r>
            <a:r>
              <a:rPr lang="es-ES" sz="1600" b="1" dirty="0" err="1">
                <a:solidFill>
                  <a:srgbClr val="00B050"/>
                </a:solidFill>
              </a:rPr>
              <a:t>Info.plist</a:t>
            </a:r>
            <a:r>
              <a:rPr lang="es-ES" sz="1600" b="1" dirty="0">
                <a:solidFill>
                  <a:srgbClr val="00B050"/>
                </a:solidFill>
              </a:rPr>
              <a:t> o </a:t>
            </a:r>
            <a:r>
              <a:rPr lang="es-ES" sz="1600" b="1" dirty="0" err="1">
                <a:solidFill>
                  <a:srgbClr val="00B050"/>
                </a:solidFill>
              </a:rPr>
              <a:t>plugins</a:t>
            </a:r>
            <a:r>
              <a:rPr lang="es-ES" sz="1600" b="1" dirty="0">
                <a:solidFill>
                  <a:srgbClr val="00B050"/>
                </a:solidFill>
              </a:rPr>
              <a:t>):</a:t>
            </a:r>
            <a:endParaRPr lang="es-CO" sz="1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AA516FE-3749-EFA0-0BD9-E4830F0477CD}"/>
              </a:ext>
            </a:extLst>
          </p:cNvPr>
          <p:cNvSpPr txBox="1"/>
          <p:nvPr/>
        </p:nvSpPr>
        <p:spPr>
          <a:xfrm>
            <a:off x="5308600" y="3042500"/>
            <a:ext cx="43264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dirty="0"/>
              <a:t>Android: cd </a:t>
            </a:r>
            <a:r>
              <a:rPr lang="es-CO" sz="1600" dirty="0" err="1"/>
              <a:t>android</a:t>
            </a:r>
            <a:r>
              <a:rPr lang="es-CO" sz="1600" dirty="0"/>
              <a:t> &amp;&amp; ./</a:t>
            </a:r>
            <a:r>
              <a:rPr lang="es-CO" sz="1600" dirty="0" err="1"/>
              <a:t>gradlew</a:t>
            </a:r>
            <a:r>
              <a:rPr lang="es-CO" sz="1600" dirty="0"/>
              <a:t> </a:t>
            </a:r>
            <a:r>
              <a:rPr lang="es-CO" sz="1600" dirty="0" err="1"/>
              <a:t>clean</a:t>
            </a:r>
            <a:endParaRPr lang="es-CO" sz="1600" dirty="0"/>
          </a:p>
          <a:p>
            <a:r>
              <a:rPr lang="es-ES" sz="1600" dirty="0"/>
              <a:t>iOS: </a:t>
            </a:r>
            <a:r>
              <a:rPr lang="es-ES" sz="1600" dirty="0" err="1"/>
              <a:t>xcodebuild</a:t>
            </a:r>
            <a:r>
              <a:rPr lang="es-ES" sz="1600" dirty="0"/>
              <a:t> </a:t>
            </a:r>
            <a:r>
              <a:rPr lang="es-ES" sz="1600" dirty="0" err="1"/>
              <a:t>clean</a:t>
            </a:r>
            <a:endParaRPr lang="es-CO" sz="1600" b="1" dirty="0"/>
          </a:p>
        </p:txBody>
      </p:sp>
      <p:pic>
        <p:nvPicPr>
          <p:cNvPr id="12290" name="Picture 2" descr="Generated image">
            <a:extLst>
              <a:ext uri="{FF2B5EF4-FFF2-40B4-BE49-F238E27FC236}">
                <a16:creationId xmlns:a16="http://schemas.microsoft.com/office/drawing/2014/main" id="{5AC659FB-A540-3362-3B81-A510918E7D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" r="-12" b="30385"/>
          <a:stretch>
            <a:fillRect/>
          </a:stretch>
        </p:blipFill>
        <p:spPr bwMode="auto">
          <a:xfrm>
            <a:off x="7985685" y="3643113"/>
            <a:ext cx="3545915" cy="23829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732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746FB-9DB2-6857-9A54-71B6EBEF2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DB1826BD-9145-93B0-F147-931C23FD5B92}"/>
              </a:ext>
            </a:extLst>
          </p:cNvPr>
          <p:cNvSpPr txBox="1"/>
          <p:nvPr/>
        </p:nvSpPr>
        <p:spPr>
          <a:xfrm>
            <a:off x="1873342" y="715916"/>
            <a:ext cx="722832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Identificación y solución de errores comunes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A402ECB-7897-353F-E2E0-938837509A5F}"/>
              </a:ext>
            </a:extLst>
          </p:cNvPr>
          <p:cNvSpPr txBox="1"/>
          <p:nvPr/>
        </p:nvSpPr>
        <p:spPr>
          <a:xfrm>
            <a:off x="1007531" y="1556068"/>
            <a:ext cx="8170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Errores típicos en proyectos Ionic + Capacitor:</a:t>
            </a:r>
            <a:endParaRPr lang="es-CO" sz="16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A8025C1-BCD3-FE01-AE06-E98EE82F5A6B}"/>
              </a:ext>
            </a:extLst>
          </p:cNvPr>
          <p:cNvSpPr txBox="1"/>
          <p:nvPr/>
        </p:nvSpPr>
        <p:spPr>
          <a:xfrm>
            <a:off x="1007532" y="2159117"/>
            <a:ext cx="4699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El plugin no funciona: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Olvidaste correr </a:t>
            </a:r>
            <a:r>
              <a:rPr lang="pt-BR" dirty="0" err="1"/>
              <a:t>npx</a:t>
            </a:r>
            <a:r>
              <a:rPr lang="pt-BR" dirty="0"/>
              <a:t> cap </a:t>
            </a:r>
            <a:r>
              <a:rPr lang="pt-BR" dirty="0" err="1"/>
              <a:t>sync</a:t>
            </a:r>
            <a:r>
              <a:rPr lang="pt-B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Solución: reinstalar plugin → sincronizar → reconstruir.</a:t>
            </a:r>
            <a:endParaRPr lang="es-CO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1F09357-49B2-05F5-37FA-474F0DCD4F07}"/>
              </a:ext>
            </a:extLst>
          </p:cNvPr>
          <p:cNvSpPr txBox="1"/>
          <p:nvPr/>
        </p:nvSpPr>
        <p:spPr>
          <a:xfrm>
            <a:off x="6096794" y="2174955"/>
            <a:ext cx="46990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Permisos faltantes (GPS, cámara, etc.):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No agregaste permisos en </a:t>
            </a:r>
            <a:r>
              <a:rPr lang="es-CO" dirty="0"/>
              <a:t>AndroidManifest.xml</a:t>
            </a:r>
            <a:r>
              <a:rPr lang="es-CO" sz="1600" dirty="0"/>
              <a:t> o </a:t>
            </a:r>
            <a:r>
              <a:rPr lang="es-CO" dirty="0" err="1"/>
              <a:t>Info.plist</a:t>
            </a:r>
            <a:r>
              <a:rPr lang="es-CO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Solución: editar archivos nativos y declarar permisos.</a:t>
            </a:r>
            <a:endParaRPr lang="es-CO" sz="1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B6D76E-378C-1B59-D7DE-64AB172C19B2}"/>
              </a:ext>
            </a:extLst>
          </p:cNvPr>
          <p:cNvSpPr txBox="1"/>
          <p:nvPr/>
        </p:nvSpPr>
        <p:spPr>
          <a:xfrm>
            <a:off x="1007531" y="3362707"/>
            <a:ext cx="4699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La app no abre en Android Studio/</a:t>
            </a:r>
            <a:r>
              <a:rPr lang="es-ES" sz="1600" b="1" dirty="0" err="1">
                <a:solidFill>
                  <a:srgbClr val="00B050"/>
                </a:solidFill>
              </a:rPr>
              <a:t>Xcode</a:t>
            </a:r>
            <a:r>
              <a:rPr lang="es-ES" sz="1600" b="1" dirty="0">
                <a:solidFill>
                  <a:srgbClr val="00B05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Capacitor no copió los archivos.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Solución</a:t>
            </a:r>
            <a:r>
              <a:rPr lang="en-US" sz="1600" dirty="0"/>
              <a:t>: </a:t>
            </a:r>
            <a:r>
              <a:rPr lang="en-US" dirty="0"/>
              <a:t>ionic build &amp;&amp; </a:t>
            </a:r>
            <a:r>
              <a:rPr lang="en-US" dirty="0" err="1"/>
              <a:t>npx</a:t>
            </a:r>
            <a:r>
              <a:rPr lang="en-US" dirty="0"/>
              <a:t> cap copy</a:t>
            </a:r>
            <a:r>
              <a:rPr lang="en-US" sz="1600" dirty="0"/>
              <a:t>.</a:t>
            </a:r>
            <a:endParaRPr lang="es-CO" sz="1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C97578E-86D0-D2A5-817C-9F0A7D530901}"/>
              </a:ext>
            </a:extLst>
          </p:cNvPr>
          <p:cNvSpPr txBox="1"/>
          <p:nvPr/>
        </p:nvSpPr>
        <p:spPr>
          <a:xfrm>
            <a:off x="6096793" y="3718307"/>
            <a:ext cx="4699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Error de versiones (</a:t>
            </a:r>
            <a:r>
              <a:rPr lang="es-ES" sz="1600" b="1" dirty="0" err="1">
                <a:solidFill>
                  <a:srgbClr val="00B050"/>
                </a:solidFill>
              </a:rPr>
              <a:t>Node</a:t>
            </a:r>
            <a:r>
              <a:rPr lang="es-ES" sz="1600" b="1" dirty="0">
                <a:solidFill>
                  <a:srgbClr val="00B050"/>
                </a:solidFill>
              </a:rPr>
              <a:t>, Capacitor, </a:t>
            </a:r>
            <a:r>
              <a:rPr lang="es-ES" sz="1600" b="1" dirty="0" err="1">
                <a:solidFill>
                  <a:srgbClr val="00B050"/>
                </a:solidFill>
              </a:rPr>
              <a:t>Gradle</a:t>
            </a:r>
            <a:r>
              <a:rPr lang="es-ES" sz="1600" b="1" dirty="0">
                <a:solidFill>
                  <a:srgbClr val="00B050"/>
                </a:solidFill>
              </a:rPr>
              <a:t>, SDK):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Usar versiones recomendadas en la documentación de Ionic/Capacitor.</a:t>
            </a:r>
          </a:p>
        </p:txBody>
      </p:sp>
    </p:spTree>
    <p:extLst>
      <p:ext uri="{BB962C8B-B14F-4D97-AF65-F5344CB8AC3E}">
        <p14:creationId xmlns:p14="http://schemas.microsoft.com/office/powerpoint/2010/main" val="3476273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D142-85C8-4C93-DD34-CABC4105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0;p2">
            <a:extLst>
              <a:ext uri="{FF2B5EF4-FFF2-40B4-BE49-F238E27FC236}">
                <a16:creationId xmlns:a16="http://schemas.microsoft.com/office/drawing/2014/main" id="{92B9AA70-54F0-F6E4-E2A5-D37DA591170E}"/>
              </a:ext>
            </a:extLst>
          </p:cNvPr>
          <p:cNvSpPr txBox="1"/>
          <p:nvPr/>
        </p:nvSpPr>
        <p:spPr>
          <a:xfrm>
            <a:off x="1873342" y="587500"/>
            <a:ext cx="7228324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800" i="0" u="none" strike="noStrike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Validación del comportamiento inicial multiplataforma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35B74B3-47DE-0E75-0DCE-38164188B585}"/>
              </a:ext>
            </a:extLst>
          </p:cNvPr>
          <p:cNvSpPr txBox="1"/>
          <p:nvPr/>
        </p:nvSpPr>
        <p:spPr>
          <a:xfrm>
            <a:off x="1007531" y="1757377"/>
            <a:ext cx="8170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Al crear la primera versión de la app, se recomienda validar:</a:t>
            </a:r>
            <a:endParaRPr lang="es-CO" sz="16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CB8A7A-9086-28A0-C588-BC1D8F9BA6A5}"/>
              </a:ext>
            </a:extLst>
          </p:cNvPr>
          <p:cNvSpPr txBox="1"/>
          <p:nvPr/>
        </p:nvSpPr>
        <p:spPr>
          <a:xfrm>
            <a:off x="1007532" y="2159117"/>
            <a:ext cx="4699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Interfaz gráfica: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/>
              <a:t>Que se </a:t>
            </a:r>
            <a:r>
              <a:rPr lang="pt-BR" sz="1600" dirty="0" err="1"/>
              <a:t>vea</a:t>
            </a:r>
            <a:r>
              <a:rPr lang="pt-BR" sz="1600" dirty="0"/>
              <a:t> </a:t>
            </a:r>
            <a:r>
              <a:rPr lang="pt-BR" sz="1600" dirty="0" err="1"/>
              <a:t>correctamente</a:t>
            </a:r>
            <a:r>
              <a:rPr lang="pt-BR" sz="1600" dirty="0"/>
              <a:t> </a:t>
            </a:r>
            <a:r>
              <a:rPr lang="pt-BR" sz="1600" dirty="0" err="1"/>
              <a:t>en</a:t>
            </a:r>
            <a:r>
              <a:rPr lang="pt-BR" sz="1600" dirty="0"/>
              <a:t> Android (Material Design) e iOS (Cupertino).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2C68B13-4207-197E-8408-9EFCF418EEB4}"/>
              </a:ext>
            </a:extLst>
          </p:cNvPr>
          <p:cNvSpPr txBox="1"/>
          <p:nvPr/>
        </p:nvSpPr>
        <p:spPr>
          <a:xfrm>
            <a:off x="6096794" y="2174955"/>
            <a:ext cx="4699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Rendimiento inicial: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Medir el tiempo de carga.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Revisar consumo de memoria/batería en emuladores y dispositivos.</a:t>
            </a:r>
            <a:endParaRPr lang="es-CO" sz="1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B89D90-1590-2E61-3CAE-14590E7F99D4}"/>
              </a:ext>
            </a:extLst>
          </p:cNvPr>
          <p:cNvSpPr txBox="1"/>
          <p:nvPr/>
        </p:nvSpPr>
        <p:spPr>
          <a:xfrm>
            <a:off x="1007531" y="3362707"/>
            <a:ext cx="4699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 err="1">
                <a:solidFill>
                  <a:srgbClr val="00B050"/>
                </a:solidFill>
              </a:rPr>
              <a:t>Plugins</a:t>
            </a:r>
            <a:r>
              <a:rPr lang="es-ES" sz="1600" b="1" dirty="0">
                <a:solidFill>
                  <a:srgbClr val="00B050"/>
                </a:solidFill>
              </a:rPr>
              <a:t> principales: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Cámara, almacenamiento, notificaciones, geolocalización.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AA731ED-E568-1A0F-FA09-8DCCAF2EE971}"/>
              </a:ext>
            </a:extLst>
          </p:cNvPr>
          <p:cNvSpPr txBox="1"/>
          <p:nvPr/>
        </p:nvSpPr>
        <p:spPr>
          <a:xfrm>
            <a:off x="6096793" y="3718307"/>
            <a:ext cx="4699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Compatibilidad: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Ejecutar en distintas versiones de Android (ej. 10, 12, 14) y iOS (ej. 15, 17).</a:t>
            </a:r>
          </a:p>
        </p:txBody>
      </p:sp>
    </p:spTree>
    <p:extLst>
      <p:ext uri="{BB962C8B-B14F-4D97-AF65-F5344CB8AC3E}">
        <p14:creationId xmlns:p14="http://schemas.microsoft.com/office/powerpoint/2010/main" val="23406449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2011</Words>
  <Application>Microsoft Office PowerPoint</Application>
  <PresentationFormat>Personalizado</PresentationFormat>
  <Paragraphs>222</Paragraphs>
  <Slides>27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Katherine Bello</dc:creator>
  <cp:lastModifiedBy>Karol Natalia Osorio Poveda</cp:lastModifiedBy>
  <cp:revision>7</cp:revision>
  <dcterms:created xsi:type="dcterms:W3CDTF">2020-08-21T13:03:05Z</dcterms:created>
  <dcterms:modified xsi:type="dcterms:W3CDTF">2025-09-20T03:08:02Z</dcterms:modified>
</cp:coreProperties>
</file>