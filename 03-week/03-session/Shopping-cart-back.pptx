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3588" cy="6858000"/>
  <p:notesSz cx="6858000" cy="9144000"/>
  <p:defaultTextStyle>
    <a:defPPr>
      <a:defRPr lang="es-ES"/>
    </a:defPPr>
    <a:lvl1pPr marL="0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1pPr>
    <a:lvl2pPr marL="56219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2pPr>
    <a:lvl3pPr marL="1124395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3pPr>
    <a:lvl4pPr marL="1686592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4pPr>
    <a:lvl5pPr marL="224878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5pPr>
    <a:lvl6pPr marL="2810986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6pPr>
    <a:lvl7pPr marL="3373183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7pPr>
    <a:lvl8pPr marL="3935381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8pPr>
    <a:lvl9pPr marL="4497579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6"/>
    <p:restoredTop sz="94666"/>
  </p:normalViewPr>
  <p:slideViewPr>
    <p:cSldViewPr snapToGrid="0" snapToObjects="1">
      <p:cViewPr varScale="1">
        <p:scale>
          <a:sx n="93" d="100"/>
          <a:sy n="93" d="100"/>
        </p:scale>
        <p:origin x="374" y="53"/>
      </p:cViewPr>
      <p:guideLst>
        <p:guide orient="horz" pos="2161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AA7BE-5C8C-47A4-BED3-AF91FBFFB1DE}" type="datetimeFigureOut">
              <a:rPr lang="es-CO" smtClean="0"/>
              <a:t>4/10/2025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ABD7E-C29F-4A4C-AFAB-81CC3D01C9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526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ABD7E-C29F-4A4C-AFAB-81CC3D01C930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6416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08DA41-61FB-244B-A279-91BD97CDB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1D69CAD-EBB2-5A42-989F-E9AE1EEBA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3" y="0"/>
            <a:ext cx="12180722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FE3CA-17F0-3E42-92B0-C63C49C949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</p:spPr>
        <p:txBody>
          <a:bodyPr anchor="t"/>
          <a:lstStyle>
            <a:lvl1pPr algn="l">
              <a:defRPr sz="4819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549164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098327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3pPr>
            <a:lvl4pPr marL="164749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219665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745817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329498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844144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439330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31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46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24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00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6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</p:spPr>
        <p:txBody>
          <a:bodyPr/>
          <a:lstStyle>
            <a:lvl1pPr>
              <a:defRPr sz="3907"/>
            </a:lvl1pPr>
            <a:lvl2pPr>
              <a:defRPr sz="3387"/>
            </a:lvl2pPr>
            <a:lvl3pPr>
              <a:defRPr sz="2865"/>
            </a:lvl3pPr>
            <a:lvl4pPr>
              <a:defRPr sz="2344"/>
            </a:lvl4pPr>
            <a:lvl5pPr>
              <a:defRPr sz="2344"/>
            </a:lvl5pPr>
            <a:lvl6pPr>
              <a:defRPr sz="2344"/>
            </a:lvl6pPr>
            <a:lvl7pPr>
              <a:defRPr sz="2344"/>
            </a:lvl7pPr>
            <a:lvl8pPr>
              <a:defRPr sz="2344"/>
            </a:lvl8pPr>
            <a:lvl9pPr>
              <a:defRPr sz="234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4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07"/>
            </a:lvl1pPr>
            <a:lvl2pPr marL="549164" indent="0">
              <a:buNone/>
              <a:defRPr sz="3387"/>
            </a:lvl2pPr>
            <a:lvl3pPr marL="1098327" indent="0">
              <a:buNone/>
              <a:defRPr sz="2865"/>
            </a:lvl3pPr>
            <a:lvl4pPr marL="1647491" indent="0">
              <a:buNone/>
              <a:defRPr sz="2344"/>
            </a:lvl4pPr>
            <a:lvl5pPr marL="2196653" indent="0">
              <a:buNone/>
              <a:defRPr sz="2344"/>
            </a:lvl5pPr>
            <a:lvl6pPr marL="2745817" indent="0">
              <a:buNone/>
              <a:defRPr sz="2344"/>
            </a:lvl6pPr>
            <a:lvl7pPr marL="3294981" indent="0">
              <a:buNone/>
              <a:defRPr sz="2344"/>
            </a:lvl7pPr>
            <a:lvl8pPr marL="3844144" indent="0">
              <a:buNone/>
              <a:defRPr sz="2344"/>
            </a:lvl8pPr>
            <a:lvl9pPr marL="4393308" indent="0">
              <a:buNone/>
              <a:defRPr sz="2344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96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1" y="1600200"/>
            <a:ext cx="1097423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27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40352" y="274638"/>
            <a:ext cx="2743557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0" y="274638"/>
            <a:ext cx="8027446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03/10/2025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2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E719049-0792-3C47-8B7F-6A2B8796E3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61" y="0"/>
            <a:ext cx="12187066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3BDCB3-BDA9-9F48-A911-03AD84A9103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6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9164" rtl="0" eaLnBrk="1" latinLnBrk="0" hangingPunct="1">
        <a:spcBef>
          <a:spcPct val="0"/>
        </a:spcBef>
        <a:buNone/>
        <a:defRPr sz="53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872" indent="-411872" algn="l" defTabSz="549164" rtl="0" eaLnBrk="1" latinLnBrk="0" hangingPunct="1">
        <a:spcBef>
          <a:spcPct val="20000"/>
        </a:spcBef>
        <a:buFont typeface="Arial"/>
        <a:buChar char="•"/>
        <a:defRPr sz="3907" kern="1200">
          <a:solidFill>
            <a:schemeClr val="tx1"/>
          </a:solidFill>
          <a:latin typeface="+mn-lt"/>
          <a:ea typeface="+mn-ea"/>
          <a:cs typeface="+mn-cs"/>
        </a:defRPr>
      </a:lvl1pPr>
      <a:lvl2pPr marL="892390" indent="-343228" algn="l" defTabSz="549164" rtl="0" eaLnBrk="1" latinLnBrk="0" hangingPunct="1">
        <a:spcBef>
          <a:spcPct val="20000"/>
        </a:spcBef>
        <a:buFont typeface="Arial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2909" indent="-274582" algn="l" defTabSz="549164" rtl="0" eaLnBrk="1" latinLnBrk="0" hangingPunct="1">
        <a:spcBef>
          <a:spcPct val="20000"/>
        </a:spcBef>
        <a:buFont typeface="Arial"/>
        <a:buChar char="•"/>
        <a:defRPr sz="2865" kern="1200">
          <a:solidFill>
            <a:schemeClr val="tx1"/>
          </a:solidFill>
          <a:latin typeface="+mn-lt"/>
          <a:ea typeface="+mn-ea"/>
          <a:cs typeface="+mn-cs"/>
        </a:defRPr>
      </a:lvl3pPr>
      <a:lvl4pPr marL="1922071" indent="-274582" algn="l" defTabSz="549164" rtl="0" eaLnBrk="1" latinLnBrk="0" hangingPunct="1">
        <a:spcBef>
          <a:spcPct val="20000"/>
        </a:spcBef>
        <a:buFont typeface="Arial"/>
        <a:buChar char="–"/>
        <a:defRPr sz="2344" kern="1200">
          <a:solidFill>
            <a:schemeClr val="tx1"/>
          </a:solidFill>
          <a:latin typeface="+mn-lt"/>
          <a:ea typeface="+mn-ea"/>
          <a:cs typeface="+mn-cs"/>
        </a:defRPr>
      </a:lvl4pPr>
      <a:lvl5pPr marL="2471236" indent="-274582" algn="l" defTabSz="549164" rtl="0" eaLnBrk="1" latinLnBrk="0" hangingPunct="1">
        <a:spcBef>
          <a:spcPct val="20000"/>
        </a:spcBef>
        <a:buFont typeface="Arial"/>
        <a:buChar char="»"/>
        <a:defRPr sz="2344" kern="1200">
          <a:solidFill>
            <a:schemeClr val="tx1"/>
          </a:solidFill>
          <a:latin typeface="+mn-lt"/>
          <a:ea typeface="+mn-ea"/>
          <a:cs typeface="+mn-cs"/>
        </a:defRPr>
      </a:lvl5pPr>
      <a:lvl6pPr marL="3020399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6pPr>
      <a:lvl7pPr marL="3569563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7pPr>
      <a:lvl8pPr marL="4118726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8pPr>
      <a:lvl9pPr marL="4667890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1pPr>
      <a:lvl2pPr marL="54916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2pPr>
      <a:lvl3pPr marL="109832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3pPr>
      <a:lvl4pPr marL="164749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4pPr>
      <a:lvl5pPr marL="2196653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5pPr>
      <a:lvl6pPr marL="274581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6pPr>
      <a:lvl7pPr marL="329498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7pPr>
      <a:lvl8pPr marL="384414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8pPr>
      <a:lvl9pPr marL="4393308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53AA6BD1-9B57-499D-78E5-B1C3F120CD2A}"/>
              </a:ext>
            </a:extLst>
          </p:cNvPr>
          <p:cNvSpPr txBox="1"/>
          <p:nvPr/>
        </p:nvSpPr>
        <p:spPr>
          <a:xfrm>
            <a:off x="184649" y="409135"/>
            <a:ext cx="484874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s-ES" sz="2400" dirty="0">
                <a:solidFill>
                  <a:schemeClr val="bg1"/>
                </a:solidFill>
              </a:rPr>
              <a:t>Ingeniería para el </a:t>
            </a:r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s-ES" sz="2400" dirty="0">
                <a:solidFill>
                  <a:schemeClr val="bg1"/>
                </a:solidFill>
              </a:rPr>
              <a:t>Desarrollo Móvil </a:t>
            </a: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s-ES" sz="2400" dirty="0">
                <a:solidFill>
                  <a:schemeClr val="bg1"/>
                </a:solidFill>
              </a:rPr>
              <a:t>Shopping </a:t>
            </a:r>
            <a:r>
              <a:rPr lang="es-ES" sz="2400" dirty="0" err="1">
                <a:solidFill>
                  <a:schemeClr val="bg1"/>
                </a:solidFill>
              </a:rPr>
              <a:t>Cart</a:t>
            </a:r>
            <a:r>
              <a:rPr sz="2400" dirty="0">
                <a:solidFill>
                  <a:schemeClr val="bg1"/>
                </a:solidFill>
              </a:rPr>
              <a:t> </a:t>
            </a: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Backend Node.js + Prisma</a:t>
            </a: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s-CO" sz="2400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Presentador: Ing. Jesús Ariel González Bonilla</a:t>
            </a: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1DE9DEB-F18D-5500-041B-DEAAB8DF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0"/>
            <a:ext cx="7062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4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147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s-ES" dirty="0"/>
              <a:t>Shopping </a:t>
            </a:r>
            <a:r>
              <a:rPr lang="es-ES" dirty="0" err="1"/>
              <a:t>Cart</a:t>
            </a:r>
            <a:r>
              <a:rPr dirty="0"/>
              <a:t> </a:t>
            </a:r>
            <a:endParaRPr lang="es-ES" dirty="0"/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Backend Node.js + Prisma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2103" y="1637682"/>
            <a:ext cx="5579899" cy="406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defRPr sz="2000"/>
            </a:pPr>
            <a:r>
              <a:rPr dirty="0"/>
              <a:t>Proyecto con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limpia</a:t>
            </a:r>
            <a:r>
              <a:rPr dirty="0"/>
              <a:t>, </a:t>
            </a:r>
            <a:r>
              <a:rPr dirty="0" err="1"/>
              <a:t>contenedores</a:t>
            </a:r>
            <a:r>
              <a:rPr dirty="0"/>
              <a:t> Docker y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con Swagger.</a:t>
            </a:r>
          </a:p>
          <a:p>
            <a:pPr algn="just">
              <a:spcAft>
                <a:spcPts val="1000"/>
              </a:spcAft>
              <a:defRPr sz="2000"/>
            </a:pPr>
            <a:r>
              <a:rPr b="1" dirty="0" err="1"/>
              <a:t>Tecnologías</a:t>
            </a:r>
            <a:r>
              <a:rPr b="1" dirty="0"/>
              <a:t>: </a:t>
            </a:r>
            <a:endParaRPr lang="es-ES" b="1" dirty="0"/>
          </a:p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ü"/>
              <a:defRPr sz="2000"/>
            </a:pPr>
            <a:r>
              <a:rPr dirty="0"/>
              <a:t>Node.js</a:t>
            </a:r>
            <a:endParaRPr lang="es-ES" dirty="0"/>
          </a:p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ü"/>
              <a:defRPr sz="2000"/>
            </a:pPr>
            <a:r>
              <a:rPr dirty="0"/>
              <a:t>Express</a:t>
            </a:r>
            <a:endParaRPr lang="es-ES" dirty="0"/>
          </a:p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ü"/>
              <a:defRPr sz="2000"/>
            </a:pPr>
            <a:r>
              <a:rPr dirty="0"/>
              <a:t>Prisma ORM</a:t>
            </a:r>
            <a:endParaRPr lang="es-ES" dirty="0"/>
          </a:p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ü"/>
              <a:defRPr sz="2000"/>
            </a:pPr>
            <a:r>
              <a:rPr dirty="0"/>
              <a:t>Docker</a:t>
            </a:r>
            <a:endParaRPr lang="es-ES" dirty="0"/>
          </a:p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ü"/>
              <a:defRPr sz="2000"/>
            </a:pPr>
            <a:r>
              <a:rPr dirty="0"/>
              <a:t>Swagger</a:t>
            </a:r>
          </a:p>
          <a:p>
            <a:pPr algn="just">
              <a:spcAft>
                <a:spcPts val="1000"/>
              </a:spcAft>
              <a:defRPr sz="2000"/>
            </a:pPr>
            <a:r>
              <a:rPr dirty="0" err="1"/>
              <a:t>Estructura</a:t>
            </a:r>
            <a:r>
              <a:rPr dirty="0"/>
              <a:t> modular para </a:t>
            </a:r>
            <a:r>
              <a:rPr dirty="0" err="1"/>
              <a:t>escalabilidad</a:t>
            </a:r>
            <a:r>
              <a:rPr dirty="0"/>
              <a:t> y </a:t>
            </a:r>
            <a:r>
              <a:rPr dirty="0" err="1"/>
              <a:t>mantenibilidad</a:t>
            </a:r>
            <a:r>
              <a:rPr dirty="0"/>
              <a:t>.</a:t>
            </a:r>
          </a:p>
        </p:txBody>
      </p:sp>
      <p:pic>
        <p:nvPicPr>
          <p:cNvPr id="1026" name="Picture 2" descr="Node.js - Wikipedia, la enciclopedia libre">
            <a:extLst>
              <a:ext uri="{FF2B5EF4-FFF2-40B4-BE49-F238E27FC236}">
                <a16:creationId xmlns:a16="http://schemas.microsoft.com/office/drawing/2014/main" id="{CEBB821D-B63C-0D67-2685-16BEBC7C6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616" y="1822742"/>
            <a:ext cx="1896367" cy="116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 Express JS Used For Frontend Or Backend Development?">
            <a:extLst>
              <a:ext uri="{FF2B5EF4-FFF2-40B4-BE49-F238E27FC236}">
                <a16:creationId xmlns:a16="http://schemas.microsoft.com/office/drawing/2014/main" id="{CE051D3F-B05A-B0F0-31AC-74421961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403509"/>
            <a:ext cx="1783492" cy="111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45CBDF-CA7A-B826-7BB9-E09776149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92" y="3009352"/>
            <a:ext cx="1806382" cy="1017680"/>
          </a:xfrm>
          <a:prstGeom prst="rect">
            <a:avLst/>
          </a:prstGeom>
        </p:spPr>
      </p:pic>
      <p:pic>
        <p:nvPicPr>
          <p:cNvPr id="1032" name="Picture 8" descr="Understanding Docker Images and Containers - NashTech Blog">
            <a:extLst>
              <a:ext uri="{FF2B5EF4-FFF2-40B4-BE49-F238E27FC236}">
                <a16:creationId xmlns:a16="http://schemas.microsoft.com/office/drawing/2014/main" id="{0CC29D69-5A0B-25F5-722A-864F16A4C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935" y="3975894"/>
            <a:ext cx="1611557" cy="140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wagger (software) - Wikipedia, la enciclopedia libre">
            <a:extLst>
              <a:ext uri="{FF2B5EF4-FFF2-40B4-BE49-F238E27FC236}">
                <a16:creationId xmlns:a16="http://schemas.microsoft.com/office/drawing/2014/main" id="{3EBD6BBD-6594-AFD9-02BA-8758C784A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869" y="4138750"/>
            <a:ext cx="1101423" cy="110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028" y="115531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Estructura</a:t>
            </a:r>
            <a:r>
              <a:rPr dirty="0"/>
              <a:t>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249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 err="1"/>
              <a:t>package.json</a:t>
            </a:r>
            <a:r>
              <a:rPr b="1" dirty="0"/>
              <a:t> </a:t>
            </a:r>
            <a:r>
              <a:rPr dirty="0"/>
              <a:t>→ </a:t>
            </a:r>
            <a:r>
              <a:rPr dirty="0" err="1"/>
              <a:t>Dependencias</a:t>
            </a:r>
            <a:r>
              <a:rPr dirty="0"/>
              <a:t> y scripts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docker-</a:t>
            </a:r>
            <a:r>
              <a:rPr b="1" dirty="0" err="1"/>
              <a:t>compose.yml</a:t>
            </a:r>
            <a:r>
              <a:rPr b="1" dirty="0"/>
              <a:t> </a:t>
            </a:r>
            <a:r>
              <a:rPr dirty="0"/>
              <a:t>→ </a:t>
            </a:r>
            <a:r>
              <a:rPr dirty="0" err="1"/>
              <a:t>Configuración</a:t>
            </a:r>
            <a:r>
              <a:rPr dirty="0"/>
              <a:t> </a:t>
            </a:r>
            <a:r>
              <a:rPr dirty="0" err="1"/>
              <a:t>contenedores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.env </a:t>
            </a:r>
            <a:r>
              <a:rPr dirty="0"/>
              <a:t>→ Variables de </a:t>
            </a:r>
            <a:r>
              <a:rPr dirty="0" err="1"/>
              <a:t>entorno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swagger.js </a:t>
            </a:r>
            <a:r>
              <a:rPr dirty="0"/>
              <a:t>/ swagger-</a:t>
            </a:r>
            <a:r>
              <a:rPr dirty="0" err="1"/>
              <a:t>output.json</a:t>
            </a:r>
            <a:r>
              <a:rPr dirty="0"/>
              <a:t> → </a:t>
            </a:r>
            <a:r>
              <a:rPr dirty="0" err="1"/>
              <a:t>Documentación</a:t>
            </a:r>
            <a:r>
              <a:rPr dirty="0"/>
              <a:t> API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 err="1"/>
              <a:t>src</a:t>
            </a:r>
            <a:r>
              <a:rPr b="1" dirty="0"/>
              <a:t>/ </a:t>
            </a:r>
            <a:r>
              <a:rPr dirty="0"/>
              <a:t>→ </a:t>
            </a:r>
            <a:r>
              <a:rPr dirty="0" err="1"/>
              <a:t>Lógica</a:t>
            </a:r>
            <a:r>
              <a:rPr dirty="0"/>
              <a:t> principal del </a:t>
            </a:r>
            <a:r>
              <a:rPr dirty="0" err="1"/>
              <a:t>sistema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8D10E6-A7A2-95DA-70EA-B837A9B8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840" y="1704502"/>
            <a:ext cx="2543530" cy="3086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7339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Capas</a:t>
            </a:r>
            <a:r>
              <a:rPr dirty="0"/>
              <a:t> de </a:t>
            </a:r>
            <a:r>
              <a:rPr dirty="0" err="1"/>
              <a:t>src</a:t>
            </a:r>
            <a:r>
              <a:rPr dirty="0"/>
              <a:t>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36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application</a:t>
            </a:r>
            <a:r>
              <a:rPr dirty="0"/>
              <a:t> → Casos de </a:t>
            </a:r>
            <a:r>
              <a:rPr dirty="0" err="1"/>
              <a:t>uso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config</a:t>
            </a:r>
            <a:r>
              <a:rPr dirty="0"/>
              <a:t> → </a:t>
            </a:r>
            <a:r>
              <a:rPr dirty="0" err="1"/>
              <a:t>Configuraciones</a:t>
            </a:r>
            <a:r>
              <a:rPr dirty="0"/>
              <a:t> </a:t>
            </a:r>
            <a:r>
              <a:rPr dirty="0" err="1"/>
              <a:t>globales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core</a:t>
            </a:r>
            <a:r>
              <a:rPr dirty="0"/>
              <a:t> →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comunes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domain</a:t>
            </a:r>
            <a:r>
              <a:rPr dirty="0"/>
              <a:t> → </a:t>
            </a:r>
            <a:r>
              <a:rPr dirty="0" err="1"/>
              <a:t>Entidades</a:t>
            </a:r>
            <a:r>
              <a:rPr dirty="0"/>
              <a:t> y </a:t>
            </a:r>
            <a:r>
              <a:rPr dirty="0" err="1"/>
              <a:t>repositorios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infrastructure</a:t>
            </a:r>
            <a:r>
              <a:rPr dirty="0"/>
              <a:t> → </a:t>
            </a:r>
            <a:r>
              <a:rPr dirty="0" err="1"/>
              <a:t>Implementaciones</a:t>
            </a:r>
            <a:r>
              <a:rPr dirty="0"/>
              <a:t> Prisma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 err="1"/>
              <a:t>middlewares</a:t>
            </a:r>
            <a:r>
              <a:rPr dirty="0"/>
              <a:t> → </a:t>
            </a:r>
            <a:r>
              <a:rPr dirty="0" err="1"/>
              <a:t>Autenticación</a:t>
            </a:r>
            <a:r>
              <a:rPr dirty="0"/>
              <a:t>, logs, </a:t>
            </a:r>
            <a:r>
              <a:rPr dirty="0" err="1"/>
              <a:t>validaciones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</a:t>
            </a:r>
            <a:r>
              <a:rPr b="1" dirty="0"/>
              <a:t>presentation</a:t>
            </a:r>
            <a:r>
              <a:rPr dirty="0"/>
              <a:t> → </a:t>
            </a:r>
            <a:r>
              <a:rPr dirty="0" err="1"/>
              <a:t>Controladores</a:t>
            </a:r>
            <a:r>
              <a:rPr dirty="0"/>
              <a:t> y </a:t>
            </a:r>
            <a:r>
              <a:rPr dirty="0" err="1"/>
              <a:t>rutas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70E3C9-A4CF-1CE6-145B-8F3FBBFD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524" y="2103120"/>
            <a:ext cx="2915057" cy="26578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9207" y="356621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4908" y="5270491"/>
            <a:ext cx="5012724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b="1" dirty="0"/>
              <a:t>app.js </a:t>
            </a:r>
            <a:r>
              <a:rPr dirty="0"/>
              <a:t>→ </a:t>
            </a:r>
            <a:r>
              <a:rPr dirty="0" err="1"/>
              <a:t>Configura</a:t>
            </a:r>
            <a:r>
              <a:rPr dirty="0"/>
              <a:t> Express y </a:t>
            </a:r>
            <a:r>
              <a:rPr dirty="0" err="1"/>
              <a:t>middlewares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24F11-9D9C-E0BC-91D7-2D235488D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37" y="937388"/>
            <a:ext cx="3641301" cy="45654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0929C765-041D-8CC9-1217-A73F482E5CDB}"/>
              </a:ext>
            </a:extLst>
          </p:cNvPr>
          <p:cNvSpPr txBox="1"/>
          <p:nvPr/>
        </p:nvSpPr>
        <p:spPr>
          <a:xfrm>
            <a:off x="6579736" y="3998118"/>
            <a:ext cx="49624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b="1" dirty="0"/>
              <a:t>server.js </a:t>
            </a:r>
            <a:r>
              <a:rPr dirty="0"/>
              <a:t>→ Punto de entrada y </a:t>
            </a:r>
            <a:r>
              <a:rPr dirty="0" err="1"/>
              <a:t>ejecución</a:t>
            </a:r>
            <a:r>
              <a:rPr dirty="0"/>
              <a:t> del </a:t>
            </a:r>
            <a:r>
              <a:rPr dirty="0" err="1"/>
              <a:t>servidor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1361995-9E8D-2657-0BDF-6B662C81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1" y="2358756"/>
            <a:ext cx="5158244" cy="1186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2" descr="Node.js - Wikipedia, la enciclopedia libre">
            <a:extLst>
              <a:ext uri="{FF2B5EF4-FFF2-40B4-BE49-F238E27FC236}">
                <a16:creationId xmlns:a16="http://schemas.microsoft.com/office/drawing/2014/main" id="{60412EE1-D651-1E14-2167-B1432F390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610" y="916774"/>
            <a:ext cx="1896367" cy="116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s Express JS Used For Frontend Or Backend Development?">
            <a:extLst>
              <a:ext uri="{FF2B5EF4-FFF2-40B4-BE49-F238E27FC236}">
                <a16:creationId xmlns:a16="http://schemas.microsoft.com/office/drawing/2014/main" id="{CD383833-36B7-6E27-80EC-437BDFC6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194" y="4904603"/>
            <a:ext cx="1783492" cy="111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2795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la app con un solo </a:t>
            </a:r>
            <a:r>
              <a:rPr dirty="0" err="1"/>
              <a:t>comando</a:t>
            </a:r>
            <a:r>
              <a:rPr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EF37E9-CDDD-DF20-B298-88788785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18" y="1548714"/>
            <a:ext cx="6044302" cy="444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8" descr="Understanding Docker Images and Containers - NashTech Blog">
            <a:extLst>
              <a:ext uri="{FF2B5EF4-FFF2-40B4-BE49-F238E27FC236}">
                <a16:creationId xmlns:a16="http://schemas.microsoft.com/office/drawing/2014/main" id="{D440C32F-6744-BF2A-0AAC-3B1889AA5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05" y="4404454"/>
            <a:ext cx="1611557" cy="140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Swagger y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234" y="1234028"/>
            <a:ext cx="7772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Swagger genera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de la API.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q"/>
              <a:defRPr sz="2000"/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probar</a:t>
            </a:r>
            <a:r>
              <a:rPr dirty="0"/>
              <a:t> endpoints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navegador</a:t>
            </a:r>
            <a:r>
              <a:rPr dirty="0"/>
              <a:t>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q"/>
              <a:defRPr sz="2000"/>
            </a:pPr>
            <a:r>
              <a:rPr dirty="0" err="1"/>
              <a:t>Comando</a:t>
            </a:r>
            <a:r>
              <a:rPr dirty="0"/>
              <a:t>: </a:t>
            </a:r>
            <a:r>
              <a:rPr dirty="0" err="1"/>
              <a:t>npm</a:t>
            </a:r>
            <a:r>
              <a:rPr dirty="0"/>
              <a:t> run swagger-</a:t>
            </a:r>
            <a:r>
              <a:rPr dirty="0" err="1"/>
              <a:t>autogen</a:t>
            </a:r>
            <a:endParaRPr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URL: http://localhost:3000/docs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662EC2-E148-7D84-4E2D-317BD7CE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862" y="3018289"/>
            <a:ext cx="5347108" cy="3147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0" descr="Swagger (software) - Wikipedia, la enciclopedia libre">
            <a:extLst>
              <a:ext uri="{FF2B5EF4-FFF2-40B4-BE49-F238E27FC236}">
                <a16:creationId xmlns:a16="http://schemas.microsoft.com/office/drawing/2014/main" id="{37C69EDA-F4E5-5F1C-FCC6-80DC2F88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069" y="5064597"/>
            <a:ext cx="1101423" cy="110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Buenas Prácticas Aplicadas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217552"/>
            <a:ext cx="7772400" cy="292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dirty="0"/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limpia</a:t>
            </a:r>
            <a:r>
              <a:rPr dirty="0"/>
              <a:t> (Clean Architecture)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 err="1"/>
              <a:t>Principios</a:t>
            </a:r>
            <a:r>
              <a:rPr dirty="0"/>
              <a:t> SOLID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DTOs y </a:t>
            </a:r>
            <a:r>
              <a:rPr dirty="0" err="1"/>
              <a:t>validaciones</a:t>
            </a:r>
            <a:endParaRPr dirty="0"/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 err="1"/>
              <a:t>Repositorios</a:t>
            </a:r>
            <a:r>
              <a:rPr dirty="0"/>
              <a:t> </a:t>
            </a:r>
            <a:r>
              <a:rPr dirty="0" err="1"/>
              <a:t>desacoplados</a:t>
            </a:r>
            <a:endParaRPr dirty="0"/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Docker para </a:t>
            </a:r>
            <a:r>
              <a:rPr dirty="0" err="1"/>
              <a:t>despliegue</a:t>
            </a:r>
            <a:endParaRPr dirty="0"/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Swagger para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automática</a:t>
            </a:r>
            <a:endParaRPr dirty="0"/>
          </a:p>
        </p:txBody>
      </p:sp>
      <p:pic>
        <p:nvPicPr>
          <p:cNvPr id="5" name="Gráfico 4" descr="Carro de la compra">
            <a:extLst>
              <a:ext uri="{FF2B5EF4-FFF2-40B4-BE49-F238E27FC236}">
                <a16:creationId xmlns:a16="http://schemas.microsoft.com/office/drawing/2014/main" id="{641C0412-C1B9-35DE-5B48-D487C90F3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1876" y="1387415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9936B33-4F07-B975-D9ED-34C0723FC802}"/>
              </a:ext>
            </a:extLst>
          </p:cNvPr>
          <p:cNvSpPr txBox="1"/>
          <p:nvPr/>
        </p:nvSpPr>
        <p:spPr>
          <a:xfrm>
            <a:off x="9277777" y="2323560"/>
            <a:ext cx="2062783" cy="441018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r>
              <a:rPr lang="es-ES" dirty="0"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S.O.L.I.D</a:t>
            </a:r>
            <a:endParaRPr lang="es-CO" dirty="0">
              <a:effectLst>
                <a:outerShdw blurRad="75057" dist="38100" dir="5400000" sy="-20000" rotWithShape="0">
                  <a:prstClr val="black">
                    <a:alpha val="25000"/>
                  </a:prstClr>
                </a:outerShdw>
              </a:effectLst>
            </a:endParaRPr>
          </a:p>
        </p:txBody>
      </p:sp>
      <p:pic>
        <p:nvPicPr>
          <p:cNvPr id="7" name="Picture 8" descr="Understanding Docker Images and Containers - NashTech Blog">
            <a:extLst>
              <a:ext uri="{FF2B5EF4-FFF2-40B4-BE49-F238E27FC236}">
                <a16:creationId xmlns:a16="http://schemas.microsoft.com/office/drawing/2014/main" id="{3B0939B6-E2D9-95F1-3D4C-F30AE822F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263" y="2745680"/>
            <a:ext cx="1611557" cy="140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Swagger (software) - Wikipedia, la enciclopedia libre">
            <a:extLst>
              <a:ext uri="{FF2B5EF4-FFF2-40B4-BE49-F238E27FC236}">
                <a16:creationId xmlns:a16="http://schemas.microsoft.com/office/drawing/2014/main" id="{0DB27971-3A03-B196-2D0B-C3C72B43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198" y="3542711"/>
            <a:ext cx="1101423" cy="110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Ejecución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8649" y="842731"/>
            <a:ext cx="7772400" cy="292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dirty="0"/>
              <a:t> docker-compose up --build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dirty="0"/>
              <a:t> </a:t>
            </a:r>
            <a:r>
              <a:rPr dirty="0" err="1"/>
              <a:t>npx</a:t>
            </a:r>
            <a:r>
              <a:rPr dirty="0"/>
              <a:t> </a:t>
            </a:r>
            <a:r>
              <a:rPr dirty="0" err="1"/>
              <a:t>prisma</a:t>
            </a:r>
            <a:r>
              <a:rPr dirty="0"/>
              <a:t> migrate dev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dirty="0"/>
              <a:t> </a:t>
            </a:r>
            <a:r>
              <a:rPr dirty="0" err="1"/>
              <a:t>npm</a:t>
            </a:r>
            <a:r>
              <a:rPr dirty="0"/>
              <a:t> run start</a:t>
            </a:r>
            <a:endParaRPr lang="es-ES" dirty="0"/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b="1" dirty="0" err="1"/>
              <a:t>Servidor</a:t>
            </a:r>
            <a:r>
              <a:rPr dirty="0"/>
              <a:t>: http://localhost:3000</a:t>
            </a:r>
          </a:p>
          <a:p>
            <a:pPr>
              <a:spcAft>
                <a:spcPts val="1000"/>
              </a:spcAft>
              <a:defRPr sz="2000"/>
            </a:pPr>
            <a:r>
              <a:rPr b="1" dirty="0"/>
              <a:t>Swagger</a:t>
            </a:r>
            <a:r>
              <a:rPr dirty="0"/>
              <a:t>: http://localhost:3000/docs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74ECE91-53B4-D78D-3490-F1CCF7F69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82" y="914400"/>
            <a:ext cx="3898338" cy="5012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2" descr="Node.js - Wikipedia, la enciclopedia libre">
            <a:extLst>
              <a:ext uri="{FF2B5EF4-FFF2-40B4-BE49-F238E27FC236}">
                <a16:creationId xmlns:a16="http://schemas.microsoft.com/office/drawing/2014/main" id="{13FE7182-E8E3-8911-5EFA-797F015B4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59" y="4184153"/>
            <a:ext cx="1896367" cy="116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s Express JS Used For Frontend Or Backend Development?">
            <a:extLst>
              <a:ext uri="{FF2B5EF4-FFF2-40B4-BE49-F238E27FC236}">
                <a16:creationId xmlns:a16="http://schemas.microsoft.com/office/drawing/2014/main" id="{4E417A79-F77C-2F9F-ECBB-DB99B7616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253" y="1868806"/>
            <a:ext cx="1783492" cy="111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ADC1CF-E0D9-31D7-0302-4E5E9B920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4808" y="2619891"/>
            <a:ext cx="1806382" cy="101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6314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Conclusiones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99931"/>
            <a:ext cx="7772400" cy="323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proyecto presenta una arquitectura sólida, moderna y escalable, aplicando principios de ingeniería de software y buenas prácticas en el desarrollo </a:t>
            </a:r>
            <a:r>
              <a:rPr lang="es-ES" dirty="0" err="1"/>
              <a:t>backend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La integración de </a:t>
            </a:r>
            <a:r>
              <a:rPr lang="es-ES" b="1" dirty="0"/>
              <a:t>Node.js, Express y Prisma ORM</a:t>
            </a:r>
            <a:r>
              <a:rPr lang="es-ES" dirty="0"/>
              <a:t> garantiza un flujo de datos eficiente y un mantenimiento ágil.</a:t>
            </a:r>
          </a:p>
          <a:p>
            <a:pPr algn="just"/>
            <a:br>
              <a:rPr lang="es-ES" dirty="0"/>
            </a:br>
            <a:r>
              <a:rPr lang="es-ES" dirty="0"/>
              <a:t>El uso de </a:t>
            </a:r>
            <a:r>
              <a:rPr lang="es-ES" b="1" dirty="0"/>
              <a:t>Docker</a:t>
            </a:r>
            <a:r>
              <a:rPr lang="es-ES" dirty="0"/>
              <a:t> facilita la implementación, portabilidad y despliegue del sistema, contribuyendo a un entorno de desarrollo más estable y profesional.</a:t>
            </a:r>
            <a:endParaRPr dirty="0"/>
          </a:p>
        </p:txBody>
      </p:sp>
      <p:pic>
        <p:nvPicPr>
          <p:cNvPr id="5" name="Gráfico 4" descr="Cabeza con engranajes">
            <a:extLst>
              <a:ext uri="{FF2B5EF4-FFF2-40B4-BE49-F238E27FC236}">
                <a16:creationId xmlns:a16="http://schemas.microsoft.com/office/drawing/2014/main" id="{AF94EBA7-8244-4B7A-AEAB-A9F0BE601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4901" y="2255107"/>
            <a:ext cx="1369541" cy="13695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353</Words>
  <Application>Microsoft Office PowerPoint</Application>
  <PresentationFormat>Personalizado</PresentationFormat>
  <Paragraphs>67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Katherine Bello</dc:creator>
  <cp:lastModifiedBy>Maria Isabel Tovar Pastrana</cp:lastModifiedBy>
  <cp:revision>12</cp:revision>
  <dcterms:created xsi:type="dcterms:W3CDTF">2020-08-21T13:03:05Z</dcterms:created>
  <dcterms:modified xsi:type="dcterms:W3CDTF">2025-10-04T05:17:04Z</dcterms:modified>
</cp:coreProperties>
</file>